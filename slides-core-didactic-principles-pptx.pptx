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This session</a:t>
            </a:r>
            <a:r>
              <a:rPr/>
              <a:t> assumes a basic familiarity with common Open Science concepts and practices. You do not need to be an expert, but you should have at least seen or used some of these concepts before. Examples include: replication crisis,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 vocabulary so the workshop can focus on learning how to teach about Open Science rather than Open Science itself.</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Also outline any essential prerequisites (software, tools, other submodules etc.) here. </a:t>
            </a: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an imaginary line across the room based on how much teaching experience they have. </a:t>
            </a:r>
            <a:r>
              <a:rPr i="1"/>
              <a:t>For online learners</a:t>
            </a:r>
            <a:r>
              <a:rPr/>
              <a:t>: Ask them to indicate experience on the screen. Pick out several people on either end of the spectrum and have them explain their teaching experience. Next, pick some people around the middle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a:t>
            </a:r>
            <a:r>
              <a:rPr i="1"/>
              <a:t>For in-person learners</a:t>
            </a:r>
            <a:r>
              <a:rPr/>
              <a:t>: Get people to stand along an imaginary line across the room based on how much they think about didactics. </a:t>
            </a:r>
            <a:r>
              <a:rPr i="1"/>
              <a:t>For online learners</a:t>
            </a:r>
            <a:r>
              <a:rPr/>
              <a:t>: Ask them to indicate their experience on the screen. Pick out several people on either end of the spectrum and have them explain their connection with didactics. Next, pick some people around the middle and have them explain and compare their connection with didactics.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a:t>
            </a:r>
            <a:r>
              <a:rPr i="1"/>
              <a:t>For in-person learners</a:t>
            </a:r>
            <a:r>
              <a:rPr/>
              <a:t>: Get people to stand along an imaginary line across the room based on how large their teaching audiences are. </a:t>
            </a:r>
            <a:r>
              <a:rPr i="1"/>
              <a:t>For online learners</a:t>
            </a:r>
            <a:r>
              <a:rPr/>
              <a:t>: Ask them to indicate their audience size on the screen. Pick out several people on either end of the spectrum and have them explain their audience. Next, pick some people around the middle and have them explain and compare their audiences in terms of size.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key concepts that will underpin today’s session. These concepts may not make sense to you at this point. Broadly speaking, these concepts are closely related and together provide a useful foundation for thinking about effective teaching and learning design.</a:t>
            </a:r>
          </a:p>
          <a:p>
            <a:pPr lvl="0" indent="0" marL="0">
              <a:buNone/>
            </a:pPr>
          </a:p>
          <a:p>
            <a:pPr lvl="0" indent="0" marL="0">
              <a:buNone/>
            </a:pPr>
            <a:r>
              <a:rPr b="1"/>
              <a:t>Instructor Notes</a:t>
            </a:r>
            <a:r>
              <a:rPr/>
              <a:t>: If time allows, add an interactive activity here. Base yourself on conceptual change theory and examine existing concepts in relation to some key terms via a poll or survey.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focuses on key didactic concepts. We will begin with defining what learning is, before discussing concepts and theoretical frameworks such as constructivism, constructive alignment, learning domains, including Bloom’s taxonomy and how to formulate clear and concise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a:t>
            </a:r>
          </a:p>
          <a:p>
            <a:pPr lvl="0" indent="0" marL="0">
              <a:buNone/>
            </a:pPr>
          </a:p>
          <a:p>
            <a:pPr lvl="0" indent="0" marL="0">
              <a:buNone/>
            </a:pPr>
            <a:r>
              <a:rPr/>
              <a:t>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Ancient Greek. The verb didáskō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This definition was later expanded to specifically include teaching and learning strategies connnected to the design and formulation of learning contents.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definition of didactics by Stockholm University also captures this concept well. Didactics is the art and science of teaching and learning. It is a field within education that seeks to answer three central questions: What should be taught, how should it be taught, and why should it be taught? Didactics encompasses questions about how learning takes place in different contexts. It can be seen as the planning, implementation, and analysis of teaching, with a particular focus on why certain goals, content, and methods are chosen.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and retained in a carefully designed context.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a wordcloud generator for this to engage your learners.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Learning does not happen in a vacuum, but the context in which it happens matters. Also, learners see new skills and new knowledge through the lens of what they already know. It is also not the case that knowledge and new skills can somehow be transmitted from the teacher or the instructor to the learner.</a:t>
            </a:r>
          </a:p>
          <a:p>
            <a:pPr lvl="0" indent="0" marL="0">
              <a:buNone/>
            </a:pPr>
          </a:p>
          <a:p>
            <a:pPr lvl="0" indent="0" marL="0">
              <a:buNone/>
            </a:pPr>
            <a:r>
              <a:rPr/>
              <a:t>What this means in practice is that learners are not “empty vessels” waiting to be filled with information, but their context and their prior knowledge has to be taken into accoount. Prior knowledge therefore plays a central role in how new information is understood, and sometimes it can even support learning, or get in the way if existing ideas conflict with new ones.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as something that learners actively achieve is captured by constructivism. Constructivism views learning as an active process shaped by prior knowledge and the learning context.</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journals means that it is lower quality compared to research published in journals with a high impact factor such as Nature. When I now encounter Open Access publishing, say someone tells me that my paper would fit well in this open access journal, I may reject the idea.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This process of intergration is what ultimately will make me move towards becoming an expert.</a:t>
            </a:r>
          </a:p>
          <a:p>
            <a:pPr lvl="0" indent="0" marL="0">
              <a:buNone/>
            </a:pPr>
          </a:p>
          <a:p>
            <a:pPr lvl="0" indent="0" marL="0">
              <a:buNone/>
            </a:pPr>
            <a:r>
              <a:rPr/>
              <a:t>We will also talk more about assessing prior knowledge in the following sessions.</a:t>
            </a:r>
          </a:p>
          <a:p>
            <a:pPr lvl="0" indent="0" marL="0">
              <a:buNone/>
            </a:pPr>
          </a:p>
          <a:p>
            <a:pPr lvl="0" indent="0" marL="0">
              <a:buNone/>
            </a:pPr>
            <a:r>
              <a:rPr b="1"/>
              <a:t>Instructor Notes</a:t>
            </a:r>
            <a:r>
              <a:rPr/>
              <a:t>: Idea for adding an interactive element: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We will then share your thoughts in the larger group. Take 3 minutes for this exercise.</a:t>
            </a:r>
          </a:p>
          <a:p>
            <a:pPr lvl="0" indent="0" marL="0">
              <a:buNone/>
            </a:pPr>
          </a:p>
          <a:p>
            <a:pPr lvl="0" indent="0" marL="0">
              <a:buNone/>
            </a:pPr>
            <a:r>
              <a:rPr b="1"/>
              <a:t>Instructor Notes</a:t>
            </a:r>
            <a:r>
              <a:rPr/>
              <a:t>: </a:t>
            </a:r>
            <a:r>
              <a:rPr i="1"/>
              <a:t>For the discussion round</a:t>
            </a:r>
            <a:r>
              <a:rPr/>
              <a:t>: When reviewing the answers,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a:p>
            <a:pPr lvl="0" indent="0" marL="0">
              <a:buNone/>
            </a:pPr>
          </a:p>
          <a:p>
            <a:pPr lvl="0" indent="0" marL="0">
              <a:buNone/>
            </a:pPr>
            <a:r>
              <a:rPr i="1"/>
              <a:t>Idea for a group activity</a:t>
            </a:r>
            <a:r>
              <a:rPr/>
              <a:t>: Replace the individual work with work in pairs. Use the think-pair-share method (Mundelsee &amp; Jurkowski, 2021): Think for two minutes for yourself, collect your thoughts with a partner for two minutes, then we discuss in the large group for two minutes.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How could we visualize this increasing expertise? We could think if it in terms of connectivity between nodes, representing facts, and relationships representing links.</a:t>
            </a:r>
          </a:p>
          <a:p>
            <a:pPr lvl="0" indent="0" marL="0">
              <a:buNone/>
            </a:pPr>
          </a:p>
          <a:p>
            <a:pPr lvl="0" indent="0" marL="0">
              <a:buNone/>
            </a:pPr>
            <a:r>
              <a:rPr/>
              <a:t>A novice may have a smaller number of nodes, i.e., less facts, and fewer connections between nodes. They may not know what questions to ask because important nodes or facts and links between them are missing. Conclusions drawn by others may therefore not be obvious.</a:t>
            </a:r>
          </a:p>
          <a:p>
            <a:pPr lvl="0" indent="0" marL="0">
              <a:buNone/>
            </a:pPr>
          </a:p>
          <a:p>
            <a:pPr lvl="0" indent="0" marL="0">
              <a:buNone/>
            </a:pPr>
            <a:r>
              <a:rPr/>
              <a:t>A competent practitioner has a mental model with more notes and more connections between them. They would be able to draw conclusions by going from A to B to C and reason that therefore F has to make sense. They would know what questions to ask and be able to evaluate their work.</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would see connections between topics that others cannot see, and are able to go straight from one node to another without making any detours. They would also be able to take different perspectives for solving a problem. They may have difficulty explaining how they are thinking to others, this is called the expert awareness gap.</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skills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knows that different licences exist and can make a choice between “default” licenses, but might not know specific details about each licence and cannot make a suitable licensing choice for egde cases.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copyright, recommends alternative journals, meaning that they adapt and apply the knowledge and skills flexibly depending on the situation.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different types of learners with a concrete example. With your neighbor, think of an open science topic of your choice, not open access since we already had a few examples related to this. Sketch out the mental model of a novice in comparison to a competent practitioner and an expert and provide at least two concrete examples of how the organization of knowledge differs among these types of learners. Write down your thoughts over the next 8 minutes.</a:t>
            </a:r>
          </a:p>
          <a:p>
            <a:pPr lvl="0" indent="0" marL="0">
              <a:buNone/>
            </a:pPr>
          </a:p>
          <a:p>
            <a:pPr lvl="0" indent="0" marL="0">
              <a:buNone/>
            </a:pPr>
            <a:r>
              <a:rPr b="1"/>
              <a:t>Instructor Notes</a:t>
            </a:r>
            <a:r>
              <a:rPr/>
              <a:t>: Give learners 8-10 minutes for this exercise. Collect at least one example and discuss in the big groupfor another 2-3 minutes.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Didactics focuses on planning and organizing teaching to support meaningful learning outcomes.</a:t>
            </a:r>
          </a:p>
          <a:p>
            <a:pPr lvl="0" indent="0" marL="0">
              <a:buNone/>
            </a:pPr>
          </a:p>
          <a:p>
            <a:pPr lvl="0" indent="0" marL="0">
              <a:buNone/>
            </a:pPr>
            <a:r>
              <a:rPr/>
              <a:t>Learning is active: learners construct understanding by connecting new information to prior knowledge, experiences, beliefs, and mental models. The learning context and activities also influence learning.</a:t>
            </a:r>
          </a:p>
          <a:p>
            <a:pPr lvl="0" indent="0" marL="0">
              <a:buNone/>
            </a:pPr>
          </a:p>
          <a:p>
            <a:pPr lvl="0"/>
            <a:r>
              <a:rPr/>
              <a:t>Mental models develop with expertise: novices have limited and fragmented knowledge structures; competent practitioners have functional structures for everyday problem solving; experts have highly connected models that support complex problem solving and flexible application of knowledge.</a:t>
            </a:r>
          </a:p>
          <a:p>
            <a:pPr lvl="0" indent="0" marL="0">
              <a:buNone/>
            </a:pPr>
          </a:p>
          <a:p>
            <a:pPr lvl="0"/>
            <a:r>
              <a:rPr/>
              <a:t>Effective teaching starts from learners’ existing knowledge and designs experiences that help them progress from novice to competent practitioner and ultimately toward expertise.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learned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(3 mins). Then discuss with your neighbor (4 mins). We will then discuss in the larger group (4 mins).</a:t>
            </a:r>
          </a:p>
          <a:p>
            <a:pPr lvl="0" indent="0" marL="0">
              <a:buNone/>
            </a:pPr>
          </a:p>
          <a:p>
            <a:pPr lvl="0" indent="0" marL="0">
              <a:buNone/>
            </a:pPr>
            <a:r>
              <a:rPr b="1"/>
              <a:t>Instructor Notes</a:t>
            </a:r>
            <a:r>
              <a:rPr/>
              <a:t>: Ask for interaction from the audience or make it an individual activity. If there are no volunteers, pick a group yourself and ask for additional contributions Allow for approx. 12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a:t>
            </a:r>
          </a:p>
          <a:p>
            <a:pPr lvl="0" indent="0" marL="0">
              <a:buNone/>
            </a:pPr>
          </a:p>
          <a:p>
            <a:pPr lvl="0"/>
            <a:r>
              <a:rPr/>
              <a:t>Provide the Big Picture: Give learners a clear overview of the workshop or course structure. Tell them what is expecting them, how it fits with the rest of the teaching context and what they are working towards.</a:t>
            </a:r>
          </a:p>
          <a:p>
            <a:pPr lvl="0" indent="0" marL="0">
              <a:buNone/>
            </a:pPr>
          </a:p>
          <a:p>
            <a:pPr lvl="0"/>
            <a:r>
              <a:rPr/>
              <a:t>Communicate expectations: Clearly communicate the session’s objectives and what learners are expected to achieve.</a:t>
            </a:r>
          </a:p>
          <a:p>
            <a:pPr lvl="0" indent="0" marL="0">
              <a:buNone/>
            </a:pPr>
          </a:p>
          <a:p>
            <a:pPr lvl="0"/>
            <a:r>
              <a:rPr/>
              <a:t>Focus on discovering more about prior knowledge: Use activities or quiz questions to uncover what learners already know.</a:t>
            </a:r>
          </a:p>
          <a:p>
            <a:pPr lvl="0" indent="0" marL="0">
              <a:buNone/>
            </a:pPr>
          </a:p>
          <a:p>
            <a:pPr lvl="0"/>
            <a:r>
              <a:rPr/>
              <a:t>Make connections visible: Explicitly link related concepts and encourage learners to identify connections themselves through activities such as sorting or concept mapping.</a:t>
            </a:r>
          </a:p>
          <a:p>
            <a:pPr lvl="0" indent="0" marL="0">
              <a:buNone/>
            </a:pPr>
          </a:p>
          <a:p>
            <a:pPr lvl="0"/>
            <a:r>
              <a:rPr/>
              <a:t>Monitor learning progress: Check learners’ progress to identify gaps or problems in how they organize and understand knowledge. This can be supported through small assessment tasks or structured feedback that make learners’ thinking visible over time.</a:t>
            </a:r>
          </a:p>
          <a:p>
            <a:pPr lvl="0" indent="0" marL="0">
              <a:buNone/>
            </a:pPr>
          </a:p>
          <a:p>
            <a:pPr lvl="0"/>
            <a:r>
              <a:rPr/>
              <a:t>Formulate learning objectives: Use clear objectives to guide learners and keep their learning focused.</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Connected to the last point on the previous slide, we are coming to another core didactic principle besides prior knowledge, constructivism, mental models and constructive alignment, namely setting learning objectives.</a:t>
            </a:r>
          </a:p>
          <a:p>
            <a:pPr lvl="0" indent="0" marL="0">
              <a:buNone/>
            </a:pPr>
          </a:p>
          <a:p>
            <a:pPr lvl="0" indent="0" marL="0">
              <a:buNone/>
            </a:pPr>
            <a:r>
              <a:rPr/>
              <a:t>These quotes here represent the famous conversation between Alice and the Cheshire Cat in Alice in Wonderland.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(desperately perhaps)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content a teacher will cover. A learning objective describes what learners should be able to do after an intervention, or a teaching activity. According to Mager and colleagues,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general, designated and specific learning objectives, as shown in this learning objectives hierarchy.</a:t>
            </a:r>
          </a:p>
          <a:p>
            <a:pPr lvl="0" indent="0" marL="0">
              <a:buNone/>
            </a:pPr>
          </a:p>
          <a:p>
            <a:pPr lvl="0"/>
            <a:r>
              <a:rPr/>
              <a:t>General objectives; What are the learning objectives for a course as a whole (e.g. producing transparent and reproducible research)</a:t>
            </a:r>
          </a:p>
          <a:p>
            <a:pPr lvl="0" indent="0" marL="0">
              <a:buNone/>
            </a:pPr>
          </a:p>
          <a:p>
            <a:pPr lvl="0"/>
            <a:r>
              <a:rPr/>
              <a:t>Designated objectives: What are the learning objectives for a specific subject area (e.g. use FAIR data principles when organizing and publishing research data)</a:t>
            </a:r>
          </a:p>
          <a:p>
            <a:pPr lvl="0" indent="0" marL="0">
              <a:buNone/>
            </a:pPr>
          </a:p>
          <a:p>
            <a:pPr lvl="0"/>
            <a:r>
              <a:rPr/>
              <a:t>Specific objectives: What are the learning objectives for a learning unit (e.g., upload a dataset to an open repository with appropriate metadata)</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In order to reach the next level of learning objectives, it is necessary for the learning success that the foundation of the lower levels has been laid.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for this. It means ensuring that three core elements of teaching, namely learning objectives/ outcomes, teaching/learning activities, and assessment tasks work together and are aligned with each other. If there is any misalignment, it can confuse learners or make the learning process less effective.</a:t>
            </a:r>
          </a:p>
          <a:p>
            <a:pPr lvl="0" indent="0" marL="0">
              <a:buNone/>
            </a:pPr>
          </a:p>
          <a:p>
            <a:pPr lvl="0" indent="0" marL="0">
              <a:buNone/>
            </a:pPr>
            <a:r>
              <a:rPr/>
              <a:t>In constructive alignment, we start with the outcomes we intend learners to learn, and align teaching and assessment to those outcomes. The outcome statements contain a learning activity and typically a verb says what the relevant learning activities are that the learners need to undertake in order to obtain the intended learning outcome.</a:t>
            </a:r>
          </a:p>
          <a:p>
            <a:pPr lvl="0" indent="0" marL="0">
              <a:buNone/>
            </a:pPr>
          </a:p>
          <a:p>
            <a:pPr lvl="0" indent="0" marL="0">
              <a:buNone/>
            </a:pPr>
            <a:r>
              <a:rPr/>
              <a:t>Learning is constructed by what activities the learners carry out; learning is about what your learners do, not about what instructors do. Likewise, assessment is about how well learners achieve the intended outcomes, not about how well learners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in an open research context, say that at the end of the session, you want your learners to independently prepare metadata for a paper they wrote in a previous session for it to be published as a preprint. For this, it would be unhelpful if you only had a learning activity during you session where learners need to describe what a preprint is. What would be a more aligned teaching activity would be to have them practice to compile metadata from a sample manuscript and extract information such as title, authors, abstract, keywords, subject categories etc.</a:t>
            </a:r>
          </a:p>
          <a:p>
            <a:pPr lvl="0" indent="0" marL="0">
              <a:buNone/>
            </a:pPr>
          </a:p>
          <a:p>
            <a:pPr lvl="0" indent="0" marL="0">
              <a:buNone/>
            </a:pPr>
            <a:r>
              <a:rPr b="1"/>
              <a:t>Instructor Notes</a:t>
            </a:r>
            <a:r>
              <a:rPr/>
              <a:t>: </a:t>
            </a:r>
            <a:r>
              <a:rPr i="1"/>
              <a:t>Ideas for interactive elements</a:t>
            </a:r>
            <a:r>
              <a:rPr/>
              <a:t>: Ask if someone in your audience has already heard about this concept. Ask to provide examples.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task with a given learning objective. We will learn more about learning objectives and how to formulate them later. For now, focus on the alignment aspect: does the learning objective match with the assessment task? Work in pairs. Take 8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The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and make sure it fits the timeframe you have. Fourth, ensure the learning objective is measurable.</a:t>
            </a:r>
          </a:p>
          <a:p>
            <a:pPr lvl="0" indent="0" marL="0">
              <a:buNone/>
            </a:pPr>
          </a:p>
          <a:p>
            <a:pPr lvl="0" indent="0" marL="0">
              <a:buNone/>
            </a:pPr>
            <a:r>
              <a:rPr/>
              <a:t>Luckily, there is a framework that can help us with this even more.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a:t>
            </a:r>
          </a:p>
          <a:p>
            <a:pPr lvl="0" indent="0" marL="0">
              <a:buNone/>
            </a:pPr>
          </a:p>
          <a:p>
            <a:pPr lvl="0" indent="0" marL="0">
              <a:buNone/>
            </a:pPr>
            <a:r>
              <a:rPr/>
              <a:t>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All three are important in the context of Open Research.</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cognitive domain, building knolledge and thinking skills is the primary objective. This framework was first conceptualized by Bloom (Bloom 1956) and is what we typically mean by Bloom’s taxonomy (Bloom et al., 1964). It is an empirical model for describing and classifying the cognitive skills that learners should have mastered at the end of a course or session.</a:t>
            </a:r>
          </a:p>
          <a:p>
            <a:pPr lvl="0" indent="0" marL="0">
              <a:buNone/>
            </a:pPr>
          </a:p>
          <a:p>
            <a:pPr lvl="0" indent="0" marL="0">
              <a:buNone/>
            </a:pPr>
            <a:r>
              <a:rPr/>
              <a:t>Example from Open Science: The learning objective focuses on analysis, requiring learners to critically examine how Open Science practices support transparency and reproducibility. This involves comparing, evaluating, and interpreting research processes. The teaching activity supports this by having learners compare real research workflows from papers, such as a traditional analysis pipeline with one using version control, preregistration, or shared data. They identify differences in transparency and reproducibility. The assessment is a group presentation in which learners explain the strengths and limitations of different practices and justify their evaluation using evidence, while developing collaborative reasoning.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you see is the pyramid of learning objective verbs by Anderson and Krathwohl (Anderson &amp; Krathwohl, 2001) who changed the taxonomy from nouns to verbs. It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the acronym FAIR data stands for without applying FAIR data principles themselves.</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learner implementing open science practices, such as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access paper with a traditionally published paper to identify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as learning outcomes. Learners become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a:r>
              <a:rPr/>
              <a:t>Receiving: Willing to listen and receive knowledge.</a:t>
            </a:r>
          </a:p>
          <a:p>
            <a:pPr lvl="0" indent="0" marL="0">
              <a:buNone/>
            </a:pPr>
          </a:p>
          <a:p>
            <a:pPr lvl="0"/>
            <a:r>
              <a:rPr/>
              <a:t>Responding: Actively participates and engages in knowledge transfer.</a:t>
            </a:r>
          </a:p>
          <a:p>
            <a:pPr lvl="0" indent="0" marL="0">
              <a:buNone/>
            </a:pPr>
          </a:p>
          <a:p>
            <a:pPr lvl="0"/>
            <a:r>
              <a:rPr/>
              <a:t>Valuing: Finds value and worth in one’s learning with motivation to continue.</a:t>
            </a:r>
          </a:p>
          <a:p>
            <a:pPr lvl="0" indent="0" marL="0">
              <a:buNone/>
            </a:pPr>
          </a:p>
          <a:p>
            <a:pPr lvl="0"/>
            <a:r>
              <a:rPr/>
              <a:t>Organizing: Integrates and compares values, resolves conflict between these values, and orders them according to priorities.</a:t>
            </a:r>
          </a:p>
          <a:p>
            <a:pPr lvl="0" indent="0" marL="0">
              <a:buNone/>
            </a:pPr>
          </a:p>
          <a:p>
            <a:pPr lvl="0"/>
            <a:r>
              <a:rPr/>
              <a:t>Characterizing: Creates a value system that controls behavior. The behavior is pervasive, consistent, predictable, and characteristic of the learner.</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psychomotor domain focuses on building physical skills and behaviors as outcome.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For Open Science, it is a little harder to find a good example. Let’s take correctly uploading and documenting a dataset using appropriate metadata and licensing. 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learning pyramid in the psychomotor domain according to Simpson’s version of the psychomotor domain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a:t>
            </a:r>
          </a:p>
          <a:p>
            <a:pPr lvl="0" indent="0" marL="0">
              <a:buNone/>
            </a:pPr>
          </a:p>
          <a:p>
            <a:pPr lvl="0"/>
            <a:r>
              <a:rPr/>
              <a:t>Cognitive: knowledge or thinking</a:t>
            </a:r>
          </a:p>
          <a:p>
            <a:pPr lvl="0" indent="0" marL="0">
              <a:buNone/>
            </a:pPr>
          </a:p>
          <a:p>
            <a:pPr lvl="0"/>
            <a:r>
              <a:rPr/>
              <a:t>Affective: growth in feelings or emotional areas (attitude or self)</a:t>
            </a:r>
          </a:p>
          <a:p>
            <a:pPr lvl="0" indent="0" marL="0">
              <a:buNone/>
            </a:pPr>
          </a:p>
          <a:p>
            <a:pPr lvl="0"/>
            <a:r>
              <a:rPr/>
              <a:t>Psychomotor: manual or physical skills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a:t>Take 10 minutes for this activity.</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 for cognitive domain:</a:t>
            </a:r>
          </a:p>
          <a:p>
            <a:pPr lvl="0" indent="0" marL="0">
              <a:buNone/>
            </a:pPr>
          </a:p>
          <a:p>
            <a:pPr lvl="0"/>
            <a:r>
              <a:rPr/>
              <a:t>Cognitive: Learners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 Take 10 minutes for this activity-</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training/self-learning.html"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8.xml" /><Relationship Id="rId4" Type="http://schemas.openxmlformats.org/officeDocument/2006/relationships/image" Target="../media/image10.png" /><Relationship Id="rId3"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1.xml" /><Relationship Id="rId3" Type="http://schemas.openxmlformats.org/officeDocument/2006/relationships/image" Target="../media/image1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2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21.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zotero/"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8845/rc.v29i1-2020.5258" TargetMode="External" /><Relationship Id="rId4" Type="http://schemas.openxmlformats.org/officeDocument/2006/relationships/hyperlink" Target="https://doi.org/10.1016/j.lindif.2021.102015"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1-5307-8029"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creativecommons.org/licenses/by-sa/4.0/deed.en" TargetMode="External" /><Relationship Id="rId4" Type="http://schemas.openxmlformats.org/officeDocument/2006/relationships/hyperlink" Target="https://lmu-osc.github.io/train-the-trainer-open-research/teaching-open-research/core-didactic-principle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Core didactic principles for teaching Open Research</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Sarah von Grebmer zu Wolfsthurn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Where to find this</a:t>
                      </a:r>
                    </a:p>
                  </a:txBody>
                  <a:tcPr/>
                </a:tc>
              </a:tr>
              <a:tr h="0">
                <a:tc>
                  <a:txBody>
                    <a:bodyPr/>
                    <a:lstStyle/>
                    <a:p>
                      <a:pPr lvl="0" indent="0" marL="0">
                        <a:buNone/>
                      </a:pPr>
                      <a:r>
                        <a:rPr/>
                        <a:t>Familiarity with Open Research concepts and practices</a:t>
                      </a:r>
                    </a:p>
                  </a:txBody>
                </a:tc>
                <a:tc>
                  <a:txBody>
                    <a:bodyPr/>
                    <a:lstStyle/>
                    <a:p>
                      <a:pPr lvl="0" indent="0" marL="0">
                        <a:buNone/>
                      </a:pPr>
                      <a:r>
                        <a:rPr/>
                        <a:t>Examples: Replication crisis, open access, R, version control, preregistration, etc.</a:t>
                      </a:r>
                    </a:p>
                  </a:txBody>
                </a:tc>
                <a:tc>
                  <a:txBody>
                    <a:bodyPr/>
                    <a:lstStyle/>
                    <a:p>
                      <a:pPr lvl="0" indent="0" marL="0">
                        <a:buNone/>
                      </a:pPr>
                      <a:r>
                        <a:rPr>
                          <a:hlinkClick r:id="rId2"/>
                        </a:rPr>
                        <a:t>Click here to get familiar with Open Research first</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
        <p:nvSpPr>
          <p:cNvPr id="5" name="Text Placeholder 4"/>
          <p:cNvSpPr>
            <a:spLocks noGrp="1"/>
          </p:cNvSpPr>
          <p:nvPr>
            <p:ph idx="3" sz="quarter" type="body"/>
          </p:nvPr>
        </p:nvSpPr>
        <p:spPr/>
        <p:txBody>
          <a:bodyPr/>
          <a:lstStyle/>
          <a:p>
            <a:pPr lvl="0" indent="0" marL="0">
              <a:buNone/>
            </a:pPr>
            <a:r>
              <a:rPr/>
              <a:t>   </a:t>
            </a:r>
          </a:p>
        </p:txBody>
      </p:sp>
      <p:pic>
        <p:nvPicPr>
          <p:cNvPr descr="images/getting-started.png" id="0" name="Picture 1"/>
          <p:cNvPicPr>
            <a:picLocks noGrp="1" noChangeAspect="1"/>
          </p:cNvPicPr>
          <p:nvPr/>
        </p:nvPicPr>
        <p:blipFill>
          <a:blip r:embed="rId2"/>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much teaching experience do you have?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Workshops, peer training, (guest) lectures, seminars, lab presentations etc. on </a:t>
            </a:r>
            <a:r>
              <a:rPr b="1"/>
              <a:t>open research</a:t>
            </a:r>
            <a:r>
              <a:rPr/>
              <a:t> topics</a:t>
            </a:r>
          </a:p>
        </p:txBody>
      </p:sp>
      <p:pic>
        <p:nvPicPr>
          <p:cNvPr descr="images/experience-spectrum.png" id="0" name="Picture 1"/>
          <p:cNvPicPr>
            <a:picLocks noGrp="1" noChangeAspect="1"/>
          </p:cNvPicPr>
          <p:nvPr/>
        </p:nvPicPr>
        <p:blipFill>
          <a:blip r:embed="rId3"/>
          <a:stretch>
            <a:fillRect/>
          </a:stretch>
        </p:blipFill>
        <p:spPr bwMode="auto">
          <a:xfrm>
            <a:off x="6197600" y="3302000"/>
            <a:ext cx="5384800" cy="11049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much have you already thought about didactics?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If and when you teach about open research, do you or would you consider </a:t>
            </a:r>
            <a:r>
              <a:rPr b="1"/>
              <a:t>didactic elements</a:t>
            </a:r>
            <a:r>
              <a:rPr/>
              <a:t> in you design and/or teaching style..?</a:t>
            </a:r>
          </a:p>
        </p:txBody>
      </p:sp>
      <p:pic>
        <p:nvPicPr>
          <p:cNvPr descr="images/didactics-thoughts-spectrum.png" id="0" name="Picture 1"/>
          <p:cNvPicPr>
            <a:picLocks noGrp="1" noChangeAspect="1"/>
          </p:cNvPicPr>
          <p:nvPr/>
        </p:nvPicPr>
        <p:blipFill>
          <a:blip r:embed="rId3"/>
          <a:stretch>
            <a:fillRect/>
          </a:stretch>
        </p:blipFill>
        <p:spPr bwMode="auto">
          <a:xfrm>
            <a:off x="6197600" y="3289300"/>
            <a:ext cx="5384800" cy="11430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big are your teaching/training audiences?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i.e., what is the average group size you teach in open research? (&lt; 5 people = very small, &gt; 100 people = very large)</a:t>
            </a:r>
          </a:p>
        </p:txBody>
      </p:sp>
      <p:pic>
        <p:nvPicPr>
          <p:cNvPr descr="images/audience.png" id="0" name="Picture 1"/>
          <p:cNvPicPr>
            <a:picLocks noGrp="1" noChangeAspect="1"/>
          </p:cNvPicPr>
          <p:nvPr/>
        </p:nvPicPr>
        <p:blipFill>
          <a:blip r:embed="rId3"/>
          <a:stretch>
            <a:fillRect/>
          </a:stretch>
        </p:blipFill>
        <p:spPr bwMode="auto">
          <a:xfrm>
            <a:off x="6197600" y="3505200"/>
            <a:ext cx="5384800" cy="71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Survey time! (Question 1)</a:t>
            </a:r>
          </a:p>
          <a:p>
            <a:pPr lvl="0" indent="0" marL="0">
              <a:buNone/>
            </a:pPr>
            <a:r>
              <a:rPr b="1"/>
              <a:t>Which of the following concepts or skills do you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2)</a:t>
            </a:r>
          </a:p>
          <a:p>
            <a:pPr lvl="0" indent="0" marL="0">
              <a:buNone/>
            </a:pPr>
            <a:r>
              <a:rPr b="1"/>
              <a:t>What is your level of familiarity with constructive alignment?</a:t>
            </a:r>
          </a:p>
          <a:p>
            <a:pPr lvl="0" indent="-457189" marL="457189">
              <a:buAutoNum type="alphaLcPeriod"/>
            </a:pPr>
            <a:r>
              <a:rPr/>
              <a:t>I have never heard of it before.</a:t>
            </a:r>
          </a:p>
          <a:p>
            <a:pPr lvl="0" indent="-457189" marL="457189">
              <a:buAutoNum type="alphaLcPeriod"/>
            </a:pPr>
            <a:r>
              <a:rPr/>
              <a:t>I have heard of it but have never implemented it in my teaching.</a:t>
            </a:r>
          </a:p>
          <a:p>
            <a:pPr lvl="0" indent="-457189" marL="457189">
              <a:buAutoNum type="alphaLcPeriod"/>
            </a:pPr>
            <a:r>
              <a:rPr/>
              <a:t>I have a basic working definition in mind and sometimes implement it in my teaching.</a:t>
            </a:r>
          </a:p>
          <a:p>
            <a:pPr lvl="0" indent="-457189" marL="457189">
              <a:buAutoNum type="alphaLcPeriod"/>
            </a:pPr>
            <a:r>
              <a:rPr/>
              <a:t>I am very familiar and have routinely applied this framework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3)</a:t>
            </a:r>
          </a:p>
          <a:p>
            <a:pPr lvl="0" indent="0" marL="0">
              <a:buNone/>
            </a:pPr>
            <a:r>
              <a:rPr b="1"/>
              <a:t>What is your level of familiarity with the three learning domains (cognitive, affective and psychomotor)?</a:t>
            </a:r>
          </a:p>
          <a:p>
            <a:pPr lvl="0" indent="-457189" marL="457189">
              <a:buAutoNum type="alphaLcPeriod"/>
            </a:pPr>
            <a:r>
              <a:rPr/>
              <a:t>I have never heard of them before.</a:t>
            </a:r>
          </a:p>
          <a:p>
            <a:pPr lvl="0" indent="-457189" marL="457189">
              <a:buAutoNum type="alphaLcPeriod"/>
            </a:pPr>
            <a:r>
              <a:rPr/>
              <a:t>I have heard of them but have never considered them in my teaching.</a:t>
            </a:r>
          </a:p>
          <a:p>
            <a:pPr lvl="0" indent="-457189" marL="457189">
              <a:buAutoNum type="alphaLcPeriod"/>
            </a:pPr>
            <a:r>
              <a:rPr/>
              <a:t>I have a basic understanding and sometimes implement them in my teaching.</a:t>
            </a:r>
          </a:p>
          <a:p>
            <a:pPr lvl="0" indent="-457189" marL="457189">
              <a:buAutoNum type="alphaLcPeriod"/>
            </a:pPr>
            <a:r>
              <a:rPr/>
              <a:t>I am very familiar and have routinely applied them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pic>
        <p:nvPicPr>
          <p:cNvPr descr="images/journey.png" id="0" name="Picture 1"/>
          <p:cNvPicPr>
            <a:picLocks noGrp="1" noChangeAspect="1"/>
          </p:cNvPicPr>
          <p:nvPr/>
        </p:nvPicPr>
        <p:blipFill>
          <a:blip r:embed="rId3"/>
          <a:stretch>
            <a:fillRect/>
          </a:stretch>
        </p:blipFill>
        <p:spPr bwMode="auto">
          <a:xfrm>
            <a:off x="1739900" y="1600200"/>
            <a:ext cx="3124200" cy="4521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a:t>What </a:t>
            </a:r>
            <a:r>
              <a:rPr i="1"/>
              <a:t>is</a:t>
            </a:r>
            <a:r>
              <a:rPr/>
              <a:t> learning?</a:t>
            </a:r>
          </a:p>
          <a:p>
            <a:pPr lvl="0"/>
            <a:r>
              <a:rPr b="1"/>
              <a:t>Constructivism</a:t>
            </a:r>
          </a:p>
          <a:p>
            <a:pPr lvl="0"/>
            <a:r>
              <a:rPr b="1"/>
              <a:t>Constructive alignment</a:t>
            </a:r>
          </a:p>
          <a:p>
            <a:pPr lvl="0"/>
            <a:r>
              <a:rPr/>
              <a:t>Learning domains and levels of knowledge: </a:t>
            </a:r>
            <a:r>
              <a:rPr b="1"/>
              <a:t>Bloom’s taxonomy</a:t>
            </a:r>
          </a:p>
          <a:p>
            <a:pPr lvl="0"/>
            <a:r>
              <a:rPr/>
              <a:t>Formulating </a:t>
            </a:r>
            <a:r>
              <a:rPr b="1"/>
              <a:t>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didactics?</a:t>
            </a:r>
          </a:p>
        </p:txBody>
      </p:sp>
      <p:sp>
        <p:nvSpPr>
          <p:cNvPr id="3" name="Text Placeholder 2"/>
          <p:cNvSpPr>
            <a:spLocks noGrp="1"/>
          </p:cNvSpPr>
          <p:nvPr>
            <p:ph idx="1" type="body"/>
          </p:nvPr>
        </p:nvSpPr>
        <p:spPr/>
        <p:txBody>
          <a:bodyPr/>
          <a:lstStyle/>
          <a:p>
            <a:pPr lvl="0" indent="0" marL="1270000">
              <a:buNone/>
            </a:pPr>
            <a:r>
              <a:rPr sz="2000"/>
              <a:t>Origins in Ancient Greek</a:t>
            </a:r>
          </a:p>
        </p:txBody>
      </p:sp>
      <p:graphicFrame>
        <p:nvGraphicFramePr>
          <p:cNvPr id="6" name="Content Placeholder 5"/>
          <p:cNvGraphicFramePr>
            <a:graphicFrameLocks noGrp="1"/>
          </p:cNvGraphicFramePr>
          <p:nvPr>
            <p:ph idx="1"/>
          </p:nvPr>
        </p:nvGraphicFramePr>
        <p:xfrm>
          <a:off x="609600" y="2171700"/>
          <a:ext cx="5384800" cy="3949700"/>
        </p:xfrm>
        <a:graphic>
          <a:graphicData uri="http://schemas.openxmlformats.org/drawingml/2006/table">
            <a:tbl>
              <a:tblPr firstRow="1" bandRow="1">
                <a:tableStyleId>{5C22544A-7EE6-4342-B048-85BDC9FD1C3A}</a:tableStyleId>
              </a:tblPr>
              <a:tblGrid>
                <a:gridCol w="1346200"/>
                <a:gridCol w="1536700"/>
                <a:gridCol w="25019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didáskō</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pic>
        <p:nvPicPr>
          <p:cNvPr descr="images/greek.png" id="0" name="Picture 1"/>
          <p:cNvPicPr>
            <a:picLocks noGrp="1" noChangeAspect="1"/>
          </p:cNvPicPr>
          <p:nvPr/>
        </p:nvPicPr>
        <p:blipFill>
          <a:blip r:embed="rId3"/>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a:t>
            </a:r>
          </a:p>
          <a:p>
            <a:pPr lvl="0" indent="0" marL="0">
              <a:buNone/>
            </a:pPr>
          </a:p>
          <a:p>
            <a:pPr lvl="0" indent="0" marL="0">
              <a:buNone/>
            </a:pPr>
            <a:r>
              <a:rPr/>
              <a:t>“…includes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sz="half"/>
          </p:nvPr>
        </p:nvSpPr>
        <p:spPr/>
        <p:txBody>
          <a:bodyPr/>
          <a:lstStyle/>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p:txBody>
      </p:sp>
      <p:pic>
        <p:nvPicPr>
          <p:cNvPr descr="images/didactics.png" id="0" name="Picture 1"/>
          <p:cNvPicPr>
            <a:picLocks noGrp="1" noChangeAspect="1"/>
          </p:cNvPicPr>
          <p:nvPr/>
        </p:nvPicPr>
        <p:blipFill>
          <a:blip r:embed="rId3"/>
          <a:stretch>
            <a:fillRect/>
          </a:stretch>
        </p:blipFill>
        <p:spPr bwMode="auto">
          <a:xfrm>
            <a:off x="6629400" y="1600200"/>
            <a:ext cx="4521200" cy="452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p>
          <a:p>
            <a:pPr lvl="0" indent="0" marL="0">
              <a:buNone/>
            </a:pPr>
            <a:r>
              <a:rPr b="1"/>
              <a:t>Constructivism</a:t>
            </a:r>
            <a:r>
              <a:rPr/>
              <a:t>: Learning is not passively received, but </a:t>
            </a:r>
            <a:r>
              <a:rPr b="1"/>
              <a:t>actively built and shaped</a:t>
            </a:r>
            <a:r>
              <a:rPr/>
              <a:t> by prior knowledge and the learning </a:t>
            </a:r>
            <a:r>
              <a:rPr b="1"/>
              <a:t>context</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1320800" y="2171700"/>
            <a:ext cx="3949700" cy="39497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is an expert?</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with a topic differ when you are an expert compared to when you are </a:t>
            </a:r>
            <a:r>
              <a:rPr b="1"/>
              <a:t>not an expert</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3"/>
          <a:stretch>
            <a:fillRect/>
          </a:stretch>
        </p:blipFill>
        <p:spPr bwMode="auto">
          <a:xfrm>
            <a:off x="2159000" y="1600200"/>
            <a:ext cx="78613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3"/>
          <a:stretch>
            <a:fillRect/>
          </a:stretch>
        </p:blipFill>
        <p:spPr bwMode="auto">
          <a:xfrm>
            <a:off x="2819400" y="1600200"/>
            <a:ext cx="65659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A mental model of acquiring Open Access skills</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1397000"/>
                <a:gridCol w="3200400"/>
                <a:gridCol w="2197100"/>
              </a:tblGrid>
              <a:tr h="0">
                <a:tc>
                  <a:txBody>
                    <a:bodyPr/>
                    <a:lstStyle/>
                    <a:p>
                      <a:pPr lvl="0" indent="0" marL="0">
                        <a:buNone/>
                      </a:pPr>
                      <a:r>
                        <a:rPr/>
                        <a:t>Level</a:t>
                      </a:r>
                    </a:p>
                  </a:txBody>
                  <a:tcPr/>
                </a:tc>
                <a:tc>
                  <a:txBody>
                    <a:bodyPr/>
                    <a:lstStyle/>
                    <a:p>
                      <a:pPr lvl="0" indent="0" marL="0">
                        <a:buNone/>
                      </a:pPr>
                      <a:r>
                        <a:rPr/>
                        <a:t>Can do ✅</a:t>
                      </a:r>
                    </a:p>
                  </a:txBody>
                  <a:tcPr/>
                </a:tc>
                <a:tc>
                  <a:txBody>
                    <a:bodyPr/>
                    <a:lstStyle/>
                    <a:p>
                      <a:pPr lvl="0" indent="0" marL="0">
                        <a:buNone/>
                      </a:pPr>
                      <a:r>
                        <a:rPr/>
                        <a:t>Cannot (yet) do ❌</a:t>
                      </a:r>
                    </a:p>
                  </a:txBody>
                  <a:tcPr/>
                </a:tc>
              </a:tr>
              <a:tr h="0">
                <a:tc>
                  <a:txBody>
                    <a:bodyPr/>
                    <a:lstStyle/>
                    <a:p>
                      <a:pPr lvl="0" indent="0" marL="0">
                        <a:buNone/>
                      </a:pPr>
                      <a:r>
                        <a:rPr b="1"/>
                        <a:t>Novice learners</a:t>
                      </a:r>
                    </a:p>
                  </a:txBody>
                </a:tc>
                <a:tc>
                  <a:txBody>
                    <a:bodyPr/>
                    <a:lstStyle/>
                    <a:p>
                      <a:pPr lvl="0" indent="0" marL="0">
                        <a:buNone/>
                      </a:pPr>
                      <a:r>
                        <a:rPr/>
                        <a:t>Recognize that Open Access and publishing licenses exist</a:t>
                      </a:r>
                    </a:p>
                  </a:txBody>
                </a:tc>
                <a:tc>
                  <a:txBody>
                    <a:bodyPr/>
                    <a:lstStyle/>
                    <a:p>
                      <a:pPr lvl="0" indent="0" marL="0">
                        <a:buNone/>
                      </a:pPr>
                      <a:r>
                        <a:rPr/>
                        <a:t>Identify different publishing licenses or explain their effects on authors and readers</a:t>
                      </a:r>
                    </a:p>
                  </a:txBody>
                </a:tc>
              </a:tr>
              <a:tr h="0">
                <a:tc>
                  <a:txBody>
                    <a:bodyPr/>
                    <a:lstStyle/>
                    <a:p>
                      <a:pPr lvl="0" indent="0" marL="0">
                        <a:buNone/>
                      </a:pPr>
                      <a:r>
                        <a:rPr b="1"/>
                        <a:t>Competent practitioners</a:t>
                      </a:r>
                    </a:p>
                  </a:txBody>
                </a:tc>
                <a:tc>
                  <a:txBody>
                    <a:bodyPr/>
                    <a:lstStyle/>
                    <a:p>
                      <a:pPr lvl="0" indent="0" marL="0">
                        <a:buNone/>
                      </a:pPr>
                      <a:r>
                        <a:rPr/>
                        <a:t>Knows which “default licenses” are a good choice for most typical cases</a:t>
                      </a:r>
                    </a:p>
                  </a:txBody>
                </a:tc>
                <a:tc>
                  <a:txBody>
                    <a:bodyPr/>
                    <a:lstStyle/>
                    <a:p>
                      <a:pPr lvl="0" indent="0" marL="0">
                        <a:buNone/>
                      </a:pPr>
                      <a:r>
                        <a:rPr/>
                        <a:t>Explain specific details of licences or handle “untypical” licensing cases</a:t>
                      </a:r>
                    </a:p>
                  </a:txBody>
                </a:tc>
              </a:tr>
              <a:tr h="0">
                <a:tc>
                  <a:txBody>
                    <a:bodyPr/>
                    <a:lstStyle/>
                    <a:p>
                      <a:pPr lvl="0" indent="0" marL="0">
                        <a:buNone/>
                      </a:pPr>
                      <a:r>
                        <a:rPr b="1"/>
                        <a:t>Experts</a:t>
                      </a:r>
                    </a:p>
                  </a:txBody>
                </a:tc>
                <a:tc>
                  <a:txBody>
                    <a:bodyPr/>
                    <a:lstStyle/>
                    <a:p>
                      <a:pPr lvl="0" indent="0" marL="0">
                        <a:buNone/>
                      </a:pPr>
                      <a:r>
                        <a:rPr/>
                        <a:t>Strategically select and apply Open Access routes (Gold, Green, Diamond); choose Creative Commons licenses based on reuse goals; support and train others</a:t>
                      </a:r>
                    </a:p>
                  </a:txBody>
                </a:tc>
                <a:tc>
                  <a:txBody>
                    <a:bodyPr/>
                    <a:lstStyle/>
                    <a:p>
                      <a:pPr lvl="0" indent="0" marL="0">
                        <a:buNone/>
                      </a:pPr>
                      <a:r>
                        <a:rPr/>
                        <a:t>—</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Sketching mental models</a:t>
            </a:r>
          </a:p>
        </p:txBody>
      </p:sp>
      <p:sp>
        <p:nvSpPr>
          <p:cNvPr id="3" name="Content Placeholder 2"/>
          <p:cNvSpPr>
            <a:spLocks noGrp="1"/>
          </p:cNvSpPr>
          <p:nvPr>
            <p:ph idx="1"/>
          </p:nvPr>
        </p:nvSpPr>
        <p:spPr/>
        <p:txBody>
          <a:bodyPr/>
          <a:lstStyle/>
          <a:p>
            <a:pPr lvl="0" indent="0" marL="0">
              <a:buNone/>
            </a:pPr>
          </a:p>
          <a:p>
            <a:pPr lvl="0" indent="-457189" marL="457189">
              <a:buAutoNum type="arabicPeriod"/>
            </a:pPr>
            <a:r>
              <a:rPr b="1"/>
              <a:t>Pick a topic</a:t>
            </a:r>
            <a:r>
              <a:rPr/>
              <a:t> from open research (</a:t>
            </a:r>
            <a:r>
              <a:rPr i="1"/>
              <a:t>different from open access</a:t>
            </a:r>
            <a:r>
              <a:rPr/>
              <a:t>).</a:t>
            </a:r>
          </a:p>
          <a:p>
            <a:pPr lvl="0" indent="-457189" marL="457189">
              <a:buAutoNum type="arabicPeriod"/>
            </a:pPr>
            <a:r>
              <a:rPr b="1"/>
              <a:t>Sketch out</a:t>
            </a:r>
            <a:r>
              <a:rPr/>
              <a:t> the mental model of a novice in comparison to a competent practitioner and/or an expert.</a:t>
            </a:r>
          </a:p>
          <a:p>
            <a:pPr lvl="0" indent="-457189" marL="457189">
              <a:buAutoNum type="arabicPeriod"/>
            </a:pPr>
            <a:r>
              <a:rPr b="1"/>
              <a:t>Provide at least two concrete examples</a:t>
            </a:r>
            <a:r>
              <a:rPr/>
              <a:t> of how the organization of knowledge differs among these types of learners.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a:t>With increasing </a:t>
            </a:r>
            <a:r>
              <a:rPr b="1"/>
              <a:t>expertise</a:t>
            </a:r>
            <a:r>
              <a:rPr/>
              <a:t> mental models of specific skills become more </a:t>
            </a:r>
            <a:r>
              <a:rPr b="1"/>
              <a:t>connected</a:t>
            </a:r>
          </a:p>
          <a:p>
            <a:pPr lvl="0"/>
            <a:r>
              <a:rPr/>
              <a:t>Effective teaching </a:t>
            </a:r>
            <a:r>
              <a:rPr b="1"/>
              <a:t>builds</a:t>
            </a:r>
            <a:r>
              <a:rPr/>
              <a:t> on learners’ existing knowledge and supports their </a:t>
            </a:r>
            <a:r>
              <a:rPr b="1"/>
              <a:t>progression from novice to competent practitioner to expert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  Can you identify things that would help you with </a:t>
            </a:r>
            <a:r>
              <a:rPr b="1"/>
              <a:t>organizing your mental model</a:t>
            </a:r>
            <a:r>
              <a:rPr/>
              <a:t> during a workshop?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(3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(4 min)</a:t>
            </a:r>
          </a:p>
          <a:p>
            <a:pPr lvl="0"/>
            <a:r>
              <a:rPr/>
              <a:t>Discuss your  thoughts with your neighbor.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Enhancing the organization of knowledge as an instructor</a:t>
            </a:r>
          </a:p>
          <a:p>
            <a:pPr lvl="0" indent="0" marL="0">
              <a:buNone/>
            </a:pPr>
            <a:r>
              <a:rPr/>
              <a:t>Some strategies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6629400" y="1600200"/>
            <a:ext cx="4521200" cy="452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you (as the instructor) going?</a:t>
            </a:r>
          </a:p>
        </p:txBody>
      </p:sp>
      <p:pic>
        <p:nvPicPr>
          <p:cNvPr descr="images/setting-learning-goals-alice.png" id="0" name="Picture 1"/>
          <p:cNvPicPr>
            <a:picLocks noGrp="1" noChangeAspect="1"/>
          </p:cNvPicPr>
          <p:nvPr/>
        </p:nvPicPr>
        <p:blipFill>
          <a:blip r:embed="rId3"/>
          <a:stretch>
            <a:fillRect/>
          </a:stretch>
        </p:blipFill>
        <p:spPr bwMode="auto">
          <a:xfrm>
            <a:off x="2070100" y="1600200"/>
            <a:ext cx="80645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6197600" y="2349500"/>
            <a:ext cx="5384800" cy="30226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Constructive alignment</a:t>
            </a:r>
          </a:p>
        </p:txBody>
      </p:sp>
      <p:sp>
        <p:nvSpPr>
          <p:cNvPr id="3" name="Content Placeholder 2"/>
          <p:cNvSpPr>
            <a:spLocks noGrp="1"/>
          </p:cNvSpPr>
          <p:nvPr>
            <p:ph idx="1" sz="half"/>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ve-alignment.png" id="0" name="Picture 1"/>
          <p:cNvPicPr>
            <a:picLocks noGrp="1" noChangeAspect="1"/>
          </p:cNvPicPr>
          <p:nvPr/>
        </p:nvPicPr>
        <p:blipFill>
          <a:blip r:embed="rId3"/>
          <a:stretch>
            <a:fillRect/>
          </a:stretch>
        </p:blipFill>
        <p:spPr bwMode="auto">
          <a:xfrm>
            <a:off x="6197600" y="2603500"/>
            <a:ext cx="5384800" cy="25019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Constructive alignment</a:t>
            </a:r>
          </a:p>
        </p:txBody>
      </p:sp>
      <p:sp>
        <p:nvSpPr>
          <p:cNvPr id="3" name="Content Placeholder 2"/>
          <p:cNvSpPr>
            <a:spLocks noGrp="1"/>
          </p:cNvSpPr>
          <p:nvPr>
            <p:ph idx="1" sz="half"/>
          </p:nvPr>
        </p:nvSpPr>
        <p:spPr/>
        <p:txBody>
          <a:bodyPr/>
          <a:lstStyle/>
          <a:p>
            <a:pPr lvl="0" indent="0" marL="1270000">
              <a:buNone/>
            </a:pPr>
            <a:r>
              <a:rPr sz="2000"/>
              <a:t>Example in an </a:t>
            </a:r>
            <a:r>
              <a:rPr sz="2000" b="1"/>
              <a:t>Open Research</a:t>
            </a:r>
            <a:r>
              <a:rPr sz="2000"/>
              <a:t> context</a:t>
            </a:r>
          </a:p>
        </p:txBody>
      </p:sp>
      <p:pic>
        <p:nvPicPr>
          <p:cNvPr descr="images/constructive-alignment-preprint-example.png" id="0" name="Picture 1"/>
          <p:cNvPicPr>
            <a:picLocks noGrp="1" noChangeAspect="1"/>
          </p:cNvPicPr>
          <p:nvPr/>
        </p:nvPicPr>
        <p:blipFill>
          <a:blip r:embed="rId3"/>
          <a:stretch>
            <a:fillRect/>
          </a:stretch>
        </p:blipFill>
        <p:spPr bwMode="auto">
          <a:xfrm>
            <a:off x="6197600" y="2590800"/>
            <a:ext cx="5384800" cy="25400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Matching learning objectives and assessment types</a:t>
            </a:r>
          </a:p>
        </p:txBody>
      </p:sp>
      <p:sp>
        <p:nvSpPr>
          <p:cNvPr id="3" name="Content Placeholder 2"/>
          <p:cNvSpPr>
            <a:spLocks noGrp="1"/>
          </p:cNvSpPr>
          <p:nvPr>
            <p:ph idx="1"/>
          </p:nvPr>
        </p:nvSpPr>
        <p:spPr/>
        <p:txBody>
          <a:bodyPr/>
          <a:lstStyle/>
          <a:p>
            <a:pPr lvl="0" indent="0" marL="0">
              <a:buNone/>
            </a:pPr>
          </a:p>
          <a:p>
            <a:pPr lvl="0" indent="0" marL="0">
              <a:buNone/>
            </a:pPr>
            <a:r>
              <a:rPr/>
              <a:t>On the following slide, match each </a:t>
            </a:r>
            <a:r>
              <a:rPr b="1"/>
              <a:t>learning objective</a:t>
            </a:r>
            <a:r>
              <a:rPr/>
              <a:t> with an </a:t>
            </a:r>
            <a:r>
              <a:rPr b="1"/>
              <a:t>assessment task</a:t>
            </a:r>
            <a:r>
              <a:rPr/>
              <a:t> and reflect the following:</a:t>
            </a:r>
          </a:p>
          <a:p>
            <a:pPr lvl="0"/>
            <a:r>
              <a:rPr b="1"/>
              <a:t>Why</a:t>
            </a:r>
            <a:r>
              <a:rPr/>
              <a:t> does the assessment task </a:t>
            </a:r>
            <a:r>
              <a:rPr b="1"/>
              <a:t>fit</a:t>
            </a:r>
            <a:r>
              <a:rPr/>
              <a:t> the specific learning objective?</a:t>
            </a:r>
          </a:p>
          <a:p>
            <a:pPr lvl="0"/>
            <a:r>
              <a:rPr/>
              <a:t>Which </a:t>
            </a:r>
            <a:r>
              <a:rPr b="1"/>
              <a:t>teaching activities</a:t>
            </a:r>
            <a:r>
              <a:rPr/>
              <a:t> can you think of that would align with the learning objective and the corresponding assessment task?</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4699000"/>
                <a:gridCol w="6273800"/>
              </a:tblGrid>
              <a:tr h="0">
                <a:tc>
                  <a:txBody>
                    <a:bodyPr/>
                    <a:lstStyle/>
                    <a:p>
                      <a:pPr lvl="0" indent="0" marL="0">
                        <a:buNone/>
                      </a:pPr>
                      <a:r>
                        <a:rPr/>
                        <a:t>Learning objective</a:t>
                      </a:r>
                    </a:p>
                  </a:txBody>
                  <a:tcPr/>
                </a:tc>
                <a:tc>
                  <a:txBody>
                    <a:bodyPr/>
                    <a:lstStyle/>
                    <a:p>
                      <a:pPr lvl="0" indent="0" marL="0">
                        <a:buNone/>
                      </a:pPr>
                      <a:r>
                        <a:rPr/>
                        <a:t>Assessment task</a:t>
                      </a:r>
                    </a:p>
                  </a:txBody>
                  <a:tcPr/>
                </a:tc>
              </a:tr>
              <a:tr h="0">
                <a:tc>
                  <a:txBody>
                    <a:bodyPr/>
                    <a:lstStyle/>
                    <a:p>
                      <a:pPr lvl="0" indent="0" marL="0">
                        <a:buNone/>
                      </a:pPr>
                      <a:r>
                        <a:rPr/>
                        <a:t>A: </a:t>
                      </a:r>
                      <a:r>
                        <a:rPr i="1"/>
                        <a:t>Create</a:t>
                      </a:r>
                      <a:r>
                        <a:rPr/>
                        <a:t> a reproducible research pipeline</a:t>
                      </a:r>
                    </a:p>
                  </a:txBody>
                </a:tc>
                <a:tc>
                  <a:txBody>
                    <a:bodyPr/>
                    <a:lstStyle/>
                    <a:p>
                      <a:pPr lvl="0" indent="0" marL="0">
                        <a:buNone/>
                      </a:pPr>
                      <a:r>
                        <a:rPr/>
                        <a:t>1: Hand in a brief essay on Green open access along with two ethical benefits and two challenges</a:t>
                      </a:r>
                    </a:p>
                  </a:txBody>
                </a:tc>
              </a:tr>
              <a:tr h="0">
                <a:tc>
                  <a:txBody>
                    <a:bodyPr/>
                    <a:lstStyle/>
                    <a:p>
                      <a:pPr lvl="0" indent="0" marL="0">
                        <a:buNone/>
                      </a:pPr>
                      <a:r>
                        <a:rPr/>
                        <a:t>B: </a:t>
                      </a:r>
                      <a:r>
                        <a:rPr i="1"/>
                        <a:t>Apply</a:t>
                      </a:r>
                      <a:r>
                        <a:rPr/>
                        <a:t> FAIR data principles to a dataset</a:t>
                      </a:r>
                    </a:p>
                  </a:txBody>
                </a:tc>
                <a:tc>
                  <a:txBody>
                    <a:bodyPr/>
                    <a:lstStyle/>
                    <a:p>
                      <a:pPr lvl="0" indent="0" marL="0">
                        <a:buNone/>
                      </a:pPr>
                      <a:r>
                        <a:rPr/>
                        <a:t>2: Generate a GitHub project and add project documentation (README)</a:t>
                      </a:r>
                    </a:p>
                  </a:txBody>
                </a:tc>
              </a:tr>
              <a:tr h="0">
                <a:tc>
                  <a:txBody>
                    <a:bodyPr/>
                    <a:lstStyle/>
                    <a:p>
                      <a:pPr lvl="0" indent="0" marL="0">
                        <a:buNone/>
                      </a:pPr>
                      <a:r>
                        <a:rPr/>
                        <a:t>C: </a:t>
                      </a:r>
                      <a:r>
                        <a:rPr i="1"/>
                        <a:t>Analyze</a:t>
                      </a:r>
                      <a:r>
                        <a:rPr/>
                        <a:t> reproducibility issues in published studies</a:t>
                      </a:r>
                    </a:p>
                  </a:txBody>
                </a:tc>
                <a:tc>
                  <a:txBody>
                    <a:bodyPr/>
                    <a:lstStyle/>
                    <a:p>
                      <a:pPr lvl="0" indent="0" marL="0">
                        <a:buNone/>
                      </a:pPr>
                      <a:r>
                        <a:rPr/>
                        <a:t>3: Create a metadata record that is machine-readable</a:t>
                      </a:r>
                    </a:p>
                  </a:txBody>
                </a:tc>
              </a:tr>
              <a:tr h="0">
                <a:tc>
                  <a:txBody>
                    <a:bodyPr/>
                    <a:lstStyle/>
                    <a:p>
                      <a:pPr lvl="0" indent="0" marL="0">
                        <a:buNone/>
                      </a:pPr>
                      <a:r>
                        <a:rPr/>
                        <a:t>D: </a:t>
                      </a:r>
                      <a:r>
                        <a:rPr i="1"/>
                        <a:t>Understand</a:t>
                      </a:r>
                      <a:r>
                        <a:rPr/>
                        <a:t> ethical implications of open access</a:t>
                      </a:r>
                    </a:p>
                  </a:txBody>
                </a:tc>
                <a:tc>
                  <a:txBody>
                    <a:bodyPr/>
                    <a:lstStyle/>
                    <a:p>
                      <a:pPr lvl="0" indent="0" marL="0">
                        <a:buNone/>
                      </a:pPr>
                      <a:r>
                        <a:rPr/>
                        <a:t>4: Write a critical review of the methods section of an open access paper</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2082800" y="1600200"/>
            <a:ext cx="80391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289300"/>
                <a:gridCol w="7683500"/>
              </a:tblGrid>
              <a:tr h="0">
                <a:tc>
                  <a:txBody>
                    <a:bodyPr/>
                    <a:lstStyle/>
                    <a:p>
                      <a:pPr lvl="0" indent="0" marL="0" algn="l">
                        <a:buNone/>
                      </a:pPr>
                      <a:r>
                        <a:rPr/>
                        <a:t>Learning domain</a:t>
                      </a:r>
                    </a:p>
                  </a:txBody>
                  <a:tcPr/>
                </a:tc>
                <a:tc>
                  <a:txBody>
                    <a:bodyPr/>
                    <a:lstStyle/>
                    <a:p>
                      <a:pPr lvl="0" indent="0" marL="0" algn="l">
                        <a:buNone/>
                      </a:pPr>
                      <a:r>
                        <a:rPr/>
                        <a:t>Learning focus</a:t>
                      </a:r>
                    </a:p>
                  </a:txBody>
                  <a:tcPr/>
                </a:tc>
              </a:tr>
              <a:tr h="0">
                <a:tc>
                  <a:txBody>
                    <a:bodyPr/>
                    <a:lstStyle/>
                    <a:p>
                      <a:pPr lvl="0" indent="0" marL="0" algn="l">
                        <a:buNone/>
                      </a:pPr>
                      <a:r>
                        <a:rPr b="1"/>
                        <a:t>Cognitive</a:t>
                      </a:r>
                    </a:p>
                  </a:txBody>
                </a:tc>
                <a:tc>
                  <a:txBody>
                    <a:bodyPr/>
                    <a:lstStyle/>
                    <a:p>
                      <a:pPr lvl="0" indent="0" marL="0" algn="l">
                        <a:buNone/>
                      </a:pPr>
                      <a:r>
                        <a:rPr/>
                        <a:t>Knowledge or thinking skills</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b="1"/>
              <a:t>Learning</a:t>
            </a:r>
            <a:r>
              <a:rPr/>
              <a:t> is focused on expanding or building up </a:t>
            </a:r>
            <a:r>
              <a:rPr b="1"/>
              <a:t>knowledge and thinking skills</a:t>
            </a:r>
            <a:r>
              <a:rPr/>
              <a:t> as a learning outcome</a:t>
            </a:r>
          </a:p>
          <a:p>
            <a:pPr lvl="0"/>
            <a:r>
              <a:rPr/>
              <a:t>Widely implemented in education and typically connected to </a:t>
            </a:r>
            <a:r>
              <a:rPr b="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3"/>
          <a:stretch>
            <a:fillRect/>
          </a:stretch>
        </p:blipFill>
        <p:spPr bwMode="auto">
          <a:xfrm>
            <a:off x="4902200" y="1435100"/>
            <a:ext cx="65151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b="1"/>
              <a:t>Learning</a:t>
            </a:r>
            <a:r>
              <a:rPr/>
              <a:t> is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3"/>
          <a:stretch>
            <a:fillRect/>
          </a:stretch>
        </p:blipFill>
        <p:spPr bwMode="auto">
          <a:xfrm>
            <a:off x="5029200" y="1435100"/>
            <a:ext cx="62738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b="1"/>
              <a:t>Learning</a:t>
            </a:r>
            <a:r>
              <a:rPr/>
              <a:t> is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3"/>
          <a:stretch>
            <a:fillRect/>
          </a:stretch>
        </p:blipFill>
        <p:spPr bwMode="auto">
          <a:xfrm>
            <a:off x="5105400" y="1435100"/>
            <a:ext cx="61214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Designing assessment tasks</a:t>
            </a:r>
          </a:p>
        </p:txBody>
      </p:sp>
      <p:sp>
        <p:nvSpPr>
          <p:cNvPr id="3" name="Content Placeholder 2"/>
          <p:cNvSpPr>
            <a:spLocks noGrp="1"/>
          </p:cNvSpPr>
          <p:nvPr>
            <p:ph idx="1"/>
          </p:nvPr>
        </p:nvSpPr>
        <p:spPr/>
        <p:txBody>
          <a:bodyPr/>
          <a:lstStyle/>
          <a:p>
            <a:pPr lvl="0" indent="0" marL="0">
              <a:buNone/>
            </a:pPr>
            <a:r>
              <a:rPr/>
              <a:t>You are tasked to design a course module on Open Research practices and would like to include a lesson on open access publishing.  </a:t>
            </a:r>
            <a:r>
              <a:rPr b="1"/>
              <a:t>Design one assessment task</a:t>
            </a:r>
            <a:r>
              <a:rPr/>
              <a:t> and </a:t>
            </a:r>
            <a:r>
              <a:rPr b="1"/>
              <a:t>define one observable metric</a:t>
            </a:r>
            <a:r>
              <a:rPr/>
              <a:t> of successfully achieving the learning objective for each </a:t>
            </a:r>
            <a:r>
              <a:rPr b="1"/>
              <a:t>learning domain</a:t>
            </a:r>
            <a:r>
              <a:rPr/>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Formulating learning objectives and assessment methods</a:t>
            </a:r>
          </a:p>
        </p:txBody>
      </p:sp>
      <p:sp>
        <p:nvSpPr>
          <p:cNvPr id="3" name="Content Placeholder 2"/>
          <p:cNvSpPr>
            <a:spLocks noGrp="1"/>
          </p:cNvSpPr>
          <p:nvPr>
            <p:ph idx="1"/>
          </p:nvPr>
        </p:nvSpPr>
        <p:spPr/>
        <p:txBody>
          <a:bodyPr/>
          <a:lstStyle/>
          <a:p>
            <a:pPr lvl="0" indent="-457189" marL="457189">
              <a:buAutoNum type="arabicPeriod"/>
            </a:pPr>
            <a:r>
              <a:rPr b="1"/>
              <a:t>Navigate</a:t>
            </a:r>
            <a:r>
              <a:rPr/>
              <a:t> to the following online tutorial: </a:t>
            </a:r>
            <a:r>
              <a:rPr>
                <a:hlinkClick r:id="rId3"/>
              </a:rPr>
              <a:t>https://lmu-osc.github.io/introduction-to-zotero/</a:t>
            </a:r>
            <a:r>
              <a:rPr/>
              <a:t>.</a:t>
            </a:r>
          </a:p>
          <a:p>
            <a:pPr lvl="0" indent="-457189" marL="457189">
              <a:buAutoNum type="arabicPeriod"/>
            </a:pPr>
            <a:r>
              <a:rPr b="1"/>
              <a:t>Skim over</a:t>
            </a:r>
            <a:r>
              <a:rPr/>
              <a:t> the different sections using the navigation menu or the arrows at the bottom of the page to get an idea of the content of the tutorial.</a:t>
            </a:r>
          </a:p>
          <a:p>
            <a:pPr lvl="0" indent="-457189" marL="457189">
              <a:buAutoNum type="arabicPeriod"/>
            </a:pPr>
            <a:r>
              <a:rPr/>
              <a:t>Using Bloom’s taxonomy, </a:t>
            </a:r>
            <a:r>
              <a:rPr b="1"/>
              <a:t>formulate two learning objectives</a:t>
            </a:r>
            <a:r>
              <a:rPr/>
              <a:t> and </a:t>
            </a:r>
            <a:r>
              <a:rPr b="1"/>
              <a:t>assessment methods</a:t>
            </a:r>
            <a:r>
              <a:rPr/>
              <a:t> that match the content and the teaching activities of the tutorial. Consider the following: Which level of Bloom’s taxonomy are you at and which domain are you targeting?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a:t>
            </a:r>
            <a:r>
              <a:rPr b="1"/>
              <a:t>organization of prior knowledge</a:t>
            </a:r>
            <a:r>
              <a:rPr/>
              <a:t>: </a:t>
            </a:r>
            <a:r>
              <a:rPr i="1"/>
              <a:t>experts</a:t>
            </a:r>
            <a:r>
              <a:rPr/>
              <a:t> have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a:t>
            </a:r>
            <a:r>
              <a:rPr i="1"/>
              <a:t>where we are going</a:t>
            </a:r>
            <a:r>
              <a:rPr/>
              <a:t>, i.e., </a:t>
            </a:r>
            <a:r>
              <a:rPr b="1"/>
              <a:t>formulate learning objectives</a:t>
            </a:r>
            <a:r>
              <a:rPr/>
              <a:t> according to the fitting learning domain(s): </a:t>
            </a:r>
            <a:r>
              <a:rPr b="1"/>
              <a:t>cognitive, affective</a:t>
            </a:r>
            <a:r>
              <a:rPr/>
              <a:t>, possibly psychomotor (sometimes overlapping!)</a:t>
            </a:r>
          </a:p>
          <a:p>
            <a:pPr lvl="0" indent="0" marL="1270000">
              <a:buNone/>
            </a:pPr>
            <a:r>
              <a:rPr sz="2000" b="1"/>
              <a:t>The formulation matters!</a:t>
            </a:r>
          </a:p>
          <a:p>
            <a:pPr lvl="0" indent="0" marL="1270000">
              <a:buNone/>
            </a:pPr>
            <a:r>
              <a:rPr sz="2000"/>
              <a:t>Place a particular </a:t>
            </a:r>
            <a:r>
              <a:rPr sz="2000" b="1"/>
              <a:t>emphasis on the verbs</a:t>
            </a:r>
            <a:r>
              <a:rPr sz="2000"/>
              <a:t> when formulating 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Survey time! (Question 1)</a:t>
            </a:r>
          </a:p>
          <a:p>
            <a:pPr lvl="0" indent="0" marL="0">
              <a:buNone/>
            </a:pPr>
            <a:r>
              <a:rPr b="1"/>
              <a:t>Which of the following concepts or skills do you now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2)</a:t>
            </a:r>
          </a:p>
          <a:p>
            <a:pPr lvl="0" indent="0" marL="0">
              <a:buNone/>
            </a:pPr>
            <a:r>
              <a:rPr b="1"/>
              <a:t>What is your level of confidence now with the mental model of skills acquisition,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3)</a:t>
            </a:r>
          </a:p>
          <a:p>
            <a:pPr lvl="0" indent="0" marL="0">
              <a:buNone/>
            </a:pPr>
            <a:r>
              <a:rPr b="1"/>
              <a:t>What is your level of confidence with the three learning domains (cognitive, affective and psychomotor),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looking back</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3"/>
              </a:rPr>
              <a:t>https://doi.org/10.18845/rc.v29i1-2020.5258</a:t>
            </a:r>
          </a:p>
          <a:p>
            <a:pPr lvl="0" indent="0" marL="0">
              <a:buNone/>
            </a:pPr>
            <a:r>
              <a:rPr/>
              <a:t>Dave, R. (1970). </a:t>
            </a:r>
            <a:r>
              <a:rPr i="1"/>
              <a:t>Developing and writing behavioural objectives</a:t>
            </a:r>
            <a:r>
              <a:rPr/>
              <a:t>. Educational Innovators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Mundelsee, L., &amp; Jurkowski, S. (2021). Think and pair before share: Effects of collaboration on students’ in-class participation. </a:t>
            </a:r>
            <a:r>
              <a:rPr i="1"/>
              <a:t>Learning and Individual Differences</a:t>
            </a:r>
            <a:r>
              <a:rPr/>
              <a:t>, </a:t>
            </a:r>
            <a:r>
              <a:rPr i="1"/>
              <a:t>88</a:t>
            </a:r>
            <a:r>
              <a:rPr/>
              <a:t>, 102015. </a:t>
            </a:r>
            <a:r>
              <a:rPr>
                <a:hlinkClick r:id="rId4"/>
              </a:rPr>
              <a:t>https://doi.org/10.1016/j.lindif.2021.102015</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Middleton, Sara (</a:t>
            </a:r>
            <a:r>
              <a:rPr>
                <a:hlinkClick r:id="rId3"/>
              </a:rPr>
              <a:t>0000-0001-5307-8029</a:t>
            </a:r>
            <a:r>
              <a:rPr/>
              <a:t>)</a:t>
            </a:r>
          </a:p>
          <a:p>
            <a:pPr lvl="0" indent="0" marL="0">
              <a:buNone/>
            </a:pPr>
            <a:r>
              <a:rPr b="1"/>
              <a:t>Reviewer</a:t>
            </a:r>
            <a:r>
              <a:rPr/>
              <a:t>: Schönbrodt, Felix ( </a:t>
            </a:r>
            <a:r>
              <a:rPr>
                <a:hlinkClick r:id="rId4"/>
              </a:rPr>
              <a:t>0000-0002-8282-3910</a:t>
            </a:r>
            <a:r>
              <a:rPr/>
              <a:t>)</a:t>
            </a:r>
          </a:p>
          <a:p>
            <a:pPr lvl="0" indent="0" marL="0">
              <a:buNone/>
            </a:pPr>
            <a:r>
              <a:rPr b="1"/>
              <a:t>Consultant</a:t>
            </a:r>
            <a:r>
              <a:rPr/>
              <a:t>: Ihle, Malika ( </a:t>
            </a:r>
            <a:r>
              <a:rPr>
                <a:hlinkClick r:id="rId5"/>
              </a:rPr>
              <a:t>0000-0002-3242-5981</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Malika Ihle and Felix Schönbrodt is licensed under a </a:t>
            </a:r>
            <a:r>
              <a:rPr>
                <a:hlinkClick r:id="rId3"/>
              </a:rPr>
              <a:t>Creative Commons Attribution 4.0 International SA License</a:t>
            </a:r>
            <a:r>
              <a:rPr/>
              <a:t> (CC-BY-SA 4.0).</a:t>
            </a:r>
          </a:p>
          <a:p>
            <a:pPr lvl="0" indent="0" marL="0">
              <a:buNone/>
            </a:pPr>
            <a:r>
              <a:rPr/>
              <a:t>Please cite as: Von Grebmer zu Wolfsthurn, S., Middleton, S., Ihle, M., &amp; Schönbrodt, F. (2026). </a:t>
            </a:r>
            <a:r>
              <a:rPr i="1"/>
              <a:t>Teaching open research: Core didactic principles</a:t>
            </a:r>
            <a:r>
              <a:rPr/>
              <a:t> [Quarto slides]. LMU Open Science Center. </a:t>
            </a:r>
            <a:r>
              <a:rPr>
                <a:hlinkClick r:id="rId4"/>
              </a:rPr>
              <a:t>https://lmu-osc.github.io/train-the-trainer-open-research/teaching-open-research/core-didactic-principles/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didactic principles for teaching Open Research</dc:title>
  <dc:creator>Sarah von Grebmer zu Wolfsthurn</dc:creator>
  <cp:keywords/>
  <dcterms:created xsi:type="dcterms:W3CDTF">2026-10-07T07:52:56Z</dcterms:created>
  <dcterms:modified xsi:type="dcterms:W3CDTF">2026-10-07T07:52:56Z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07/10/2026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