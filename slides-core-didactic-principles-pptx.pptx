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defaultTextStyle>
    <a:defPPr>
      <a:defRPr lang="en-US"/>
    </a:defPPr>
    <a:lvl1pPr algn="l" defTabSz="609585" eaLnBrk="1" hangingPunct="1" latinLnBrk="0" marL="0" rtl="0">
      <a:defRPr kern="1200" sz="2400">
        <a:solidFill>
          <a:schemeClr val="tx1"/>
        </a:solidFill>
        <a:latin typeface="+mn-lt"/>
        <a:ea typeface="+mn-ea"/>
        <a:cs typeface="+mn-cs"/>
      </a:defRPr>
    </a:lvl1pPr>
    <a:lvl2pPr algn="l" defTabSz="609585" eaLnBrk="1" hangingPunct="1" latinLnBrk="0" marL="609585" rtl="0">
      <a:defRPr kern="1200" sz="2400">
        <a:solidFill>
          <a:schemeClr val="tx1"/>
        </a:solidFill>
        <a:latin typeface="+mn-lt"/>
        <a:ea typeface="+mn-ea"/>
        <a:cs typeface="+mn-cs"/>
      </a:defRPr>
    </a:lvl2pPr>
    <a:lvl3pPr algn="l" defTabSz="609585" eaLnBrk="1" hangingPunct="1" latinLnBrk="0" marL="1219170" rtl="0">
      <a:defRPr kern="1200" sz="2400">
        <a:solidFill>
          <a:schemeClr val="tx1"/>
        </a:solidFill>
        <a:latin typeface="+mn-lt"/>
        <a:ea typeface="+mn-ea"/>
        <a:cs typeface="+mn-cs"/>
      </a:defRPr>
    </a:lvl3pPr>
    <a:lvl4pPr algn="l" defTabSz="609585" eaLnBrk="1" hangingPunct="1" latinLnBrk="0" marL="1828754" rtl="0">
      <a:defRPr kern="1200" sz="2400">
        <a:solidFill>
          <a:schemeClr val="tx1"/>
        </a:solidFill>
        <a:latin typeface="+mn-lt"/>
        <a:ea typeface="+mn-ea"/>
        <a:cs typeface="+mn-cs"/>
      </a:defRPr>
    </a:lvl4pPr>
    <a:lvl5pPr algn="l" defTabSz="609585" eaLnBrk="1" hangingPunct="1" latinLnBrk="0" marL="2438339" rtl="0">
      <a:defRPr kern="1200" sz="2400">
        <a:solidFill>
          <a:schemeClr val="tx1"/>
        </a:solidFill>
        <a:latin typeface="+mn-lt"/>
        <a:ea typeface="+mn-ea"/>
        <a:cs typeface="+mn-cs"/>
      </a:defRPr>
    </a:lvl5pPr>
    <a:lvl6pPr algn="l" defTabSz="609585" eaLnBrk="1" hangingPunct="1" latinLnBrk="0" marL="3047924" rtl="0">
      <a:defRPr kern="1200" sz="2400">
        <a:solidFill>
          <a:schemeClr val="tx1"/>
        </a:solidFill>
        <a:latin typeface="+mn-lt"/>
        <a:ea typeface="+mn-ea"/>
        <a:cs typeface="+mn-cs"/>
      </a:defRPr>
    </a:lvl6pPr>
    <a:lvl7pPr algn="l" defTabSz="609585" eaLnBrk="1" hangingPunct="1" latinLnBrk="0" marL="3657509" rtl="0">
      <a:defRPr kern="1200" sz="2400">
        <a:solidFill>
          <a:schemeClr val="tx1"/>
        </a:solidFill>
        <a:latin typeface="+mn-lt"/>
        <a:ea typeface="+mn-ea"/>
        <a:cs typeface="+mn-cs"/>
      </a:defRPr>
    </a:lvl7pPr>
    <a:lvl8pPr algn="l" defTabSz="609585" eaLnBrk="1" hangingPunct="1" latinLnBrk="0" marL="4267093" rtl="0">
      <a:defRPr kern="1200" sz="2400">
        <a:solidFill>
          <a:schemeClr val="tx1"/>
        </a:solidFill>
        <a:latin typeface="+mn-lt"/>
        <a:ea typeface="+mn-ea"/>
        <a:cs typeface="+mn-cs"/>
      </a:defRPr>
    </a:lvl8pPr>
    <a:lvl9pPr algn="l" defTabSz="609585" eaLnBrk="1" hangingPunct="1" latinLnBrk="0" marL="4876678" rtl="0">
      <a:defRPr kern="1200" sz="24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B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478"/>
    <p:restoredTop autoAdjust="0" sz="94693"/>
  </p:normalViewPr>
  <p:slideViewPr>
    <p:cSldViewPr snapToGrid="0" snapToObjects="1">
      <p:cViewPr varScale="1">
        <p:scale>
          <a:sx d="100" n="160"/>
          <a:sy d="100" n="160"/>
        </p:scale>
        <p:origin x="176" y="320"/>
      </p:cViewPr>
      <p:guideLst>
        <p:guide orient="horz" pos="2160"/>
        <p:guide pos="384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notesMaster" Target="notesMasters/notesMaster1.xml" /><Relationship Id="rId69" Type="http://schemas.openxmlformats.org/officeDocument/2006/relationships/viewProps" Target="viewProps.xml" /><Relationship Id="rId68" Type="http://schemas.openxmlformats.org/officeDocument/2006/relationships/presProps" Target="presProps.xml" /><Relationship Id="rId1" Type="http://schemas.openxmlformats.org/officeDocument/2006/relationships/slideMaster" Target="slideMasters/slideMaster1.xml" /><Relationship Id="rId71" Type="http://schemas.openxmlformats.org/officeDocument/2006/relationships/tableStyles" Target="tableStyles.xml" /><Relationship Id="rId7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b="1"/>
              <a:t>This session</a:t>
            </a:r>
            <a:r>
              <a:rPr/>
              <a:t> assumes a basic familiarity with common Open Science concepts and practices. You do not need to be an expert, but you should have at least seen or used some of these concepts before. Examples include: replication crisis, R for data analysis and reproducible workflows; Quarto for reproducible documents; Git and GitHub for version control and collaboration, preregistration to document hypotheses and analysis plans in advance, Open Access publishing and broader transparency practices. If some of these terms are new, you are encouraged to review the introductory Open Science materials linked on the slide before continuing. The goal is simply to ensure everyone shares a common base vocabulary so the workshop can focus on learning how to teach about Open Science rather than Open Science itself.</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Before you get started on this session with your audience, you need to ensure that the audience fulfills these criteria. Also outline any essential prerequisites (software, tools, other submodules etc.) here. </a:t>
            </a: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a:t>
            </a:r>
            <a:r>
              <a:rPr i="1"/>
              <a:t>For in-person learners</a:t>
            </a:r>
            <a:r>
              <a:rPr/>
              <a:t>: Get people to stand along an imaginary line across the room based on how much teaching experience they have. </a:t>
            </a:r>
            <a:r>
              <a:rPr i="1"/>
              <a:t>For online learners</a:t>
            </a:r>
            <a:r>
              <a:rPr/>
              <a:t>: Ask them to indicate experience on the screen. Pick out several people on either end of the spectrum and have them explain their teaching experience. Next, pick some people around the middle and have them explain and compare their experiences. Involve your audience as early as possible, so that they pay attention in case they unexpectedly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let us think a little more about “didactics” or “pedagogy”. If and when you teach, how often do you think about didactics? What do you connect with that term?</a:t>
            </a:r>
          </a:p>
          <a:p>
            <a:pPr lvl="0" indent="0" marL="0">
              <a:buNone/>
            </a:pPr>
          </a:p>
          <a:p>
            <a:pPr lvl="0" indent="0" marL="0">
              <a:buNone/>
            </a:pPr>
            <a:r>
              <a:rPr b="1"/>
              <a:t>Instructor Notes</a:t>
            </a:r>
            <a:r>
              <a:rPr/>
              <a:t>: </a:t>
            </a:r>
            <a:r>
              <a:rPr i="1"/>
              <a:t>For in-person learners</a:t>
            </a:r>
            <a:r>
              <a:rPr/>
              <a:t>: Get people to stand along an imaginary line across the room based on how much they think about didactics. </a:t>
            </a:r>
            <a:r>
              <a:rPr i="1"/>
              <a:t>For online learners</a:t>
            </a:r>
            <a:r>
              <a:rPr/>
              <a:t>: Ask them to indicate their experience on the screen. Pick out several people on either end of the spectrum and have them explain their connection with didactics. Next, pick some people around the middle and have them explain and compare their connection with didactics. Involve your audience as early as possible, so that they pay attention in case they unexpectedly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Finally, how big are your training audiences? How many people are in the room with you, virtually or in person? What kind of group would this be?</a:t>
            </a:r>
          </a:p>
          <a:p>
            <a:pPr lvl="0" indent="0" marL="0">
              <a:buNone/>
            </a:pPr>
          </a:p>
          <a:p>
            <a:pPr lvl="0" indent="0" marL="0">
              <a:buNone/>
            </a:pPr>
            <a:r>
              <a:rPr b="1"/>
              <a:t>Instructor Notes</a:t>
            </a:r>
            <a:r>
              <a:rPr/>
              <a:t>: </a:t>
            </a:r>
            <a:r>
              <a:rPr i="1"/>
              <a:t>For in-person learners</a:t>
            </a:r>
            <a:r>
              <a:rPr/>
              <a:t>: Get people to stand along an imaginary line across the room based on how large their teaching audiences are. </a:t>
            </a:r>
            <a:r>
              <a:rPr i="1"/>
              <a:t>For online learners</a:t>
            </a:r>
            <a:r>
              <a:rPr/>
              <a:t>: Ask them to indicate their audience size on the screen. Pick out several people on either end of the spectrum and have them explain their audience. Next, pick some people around the middle and have them explain and compare their audiences in terms of size. Involve your audience as early as possible, so that they pay attention in case they unexpectedly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start, I would like to give you an overview of where we are going today. We will discuss this a little more later, but maybe some of you are here thinking, hm, I am unsure what it really means to do “good” teaching of open research topics. By the end of today, the plan is to boost your confidence in terms of your teaching skills and guide you step-by-step towards a great level of confidence, that you can pass your knowledge of open research on to novice learners through evidence-based practice.</a:t>
            </a:r>
          </a:p>
          <a:p>
            <a:pPr lvl="0" indent="0" marL="0">
              <a:buNone/>
            </a:pPr>
          </a:p>
          <a:p>
            <a:pPr lvl="0" indent="0" marL="0">
              <a:buNone/>
            </a:pPr>
            <a:r>
              <a:rPr b="1"/>
              <a:t>Instructor Notes</a:t>
            </a:r>
            <a:r>
              <a:rPr/>
              <a:t>: It is important to provide the overall vision of this session so that learners understand where they are headed in relation to where they are at in terms of how they feel about this topic.</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go further, I want to briefly show you the key concepts that will underpin today’s session. These concepts may not make sense to you at this point. Broadly speaking, these concepts are closely related and together provide a useful foundation for thinking about effective teaching and learning design.</a:t>
            </a:r>
          </a:p>
          <a:p>
            <a:pPr lvl="0" indent="0" marL="0">
              <a:buNone/>
            </a:pPr>
          </a:p>
          <a:p>
            <a:pPr lvl="0" indent="0" marL="0">
              <a:buNone/>
            </a:pPr>
            <a:r>
              <a:rPr b="1"/>
              <a:t>Instructor Notes</a:t>
            </a:r>
            <a:r>
              <a:rPr/>
              <a:t>: If time allows, add an interactive activity here. Base yourself on conceptual change theory and examine existing concepts in relation to some key terms via a poll or survey.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Today’s goal is to get to know these concepts in depth, so that at the end of the session you will have come to learn what each one of them entails in more detail.</a:t>
            </a:r>
          </a:p>
          <a:p>
            <a:pPr lvl="0" indent="0" marL="0">
              <a:buNone/>
            </a:pPr>
          </a:p>
          <a:p>
            <a:pPr lvl="0" indent="0" marL="0">
              <a:buNone/>
            </a:pPr>
            <a:r>
              <a:rPr b="1"/>
              <a:t>Instructor Notes</a:t>
            </a:r>
            <a:r>
              <a:rPr/>
              <a:t>: Emphasize that knowledge of these concepts is not required at this point, and that you will get back to these definitions towards the end of the class.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session focuses on key didactic concepts. We will begin with defining what learning is, before discussing concepts and theoretical frameworks such as constructivism, constructive alignment, learning domains, including Bloom’s taxonomy and how to formulate clear and concise learning objectives.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main learning objectives for today’s session. First, you should be able to understand some basic didactic concepts that support effective learning and teaching.</a:t>
            </a:r>
          </a:p>
          <a:p>
            <a:pPr lvl="0" indent="0" marL="0">
              <a:buNone/>
            </a:pPr>
          </a:p>
          <a:p>
            <a:pPr lvl="0" indent="0" marL="0">
              <a:buNone/>
            </a:pPr>
            <a:r>
              <a:rPr/>
              <a:t>Second, you will analyze how knowledge can be structured differently depending on the learner’s level of expertise, for example, how novices and experts organize information in different ways.</a:t>
            </a:r>
          </a:p>
          <a:p>
            <a:pPr lvl="0" indent="0" marL="0">
              <a:buNone/>
            </a:pPr>
          </a:p>
          <a:p>
            <a:pPr lvl="0" indent="0" marL="0">
              <a:buNone/>
            </a:pPr>
            <a:r>
              <a:rPr/>
              <a:t>Third, you will evaluate whether learning objectives and assessment methods are actually aligned and why this is important. In other words, does the assessment really measure the kind of learning we want students to achieve?</a:t>
            </a:r>
          </a:p>
          <a:p>
            <a:pPr lvl="0" indent="0" marL="0">
              <a:buNone/>
            </a:pPr>
          </a:p>
          <a:p>
            <a:pPr lvl="0" indent="0" marL="0">
              <a:buNone/>
            </a:pPr>
            <a:r>
              <a:rPr/>
              <a:t>Finally, you will formulate your own learning objectives using authentic examples and applying the principle of constructive alignment.</a:t>
            </a:r>
          </a:p>
          <a:p>
            <a:pPr lvl="0" indent="0" marL="0">
              <a:buNone/>
            </a:pPr>
          </a:p>
          <a:p>
            <a:pPr lvl="0" indent="0" marL="0">
              <a:buNone/>
            </a:pPr>
            <a:r>
              <a:rPr/>
              <a:t>Notice that I have highlighted the verbs in bold, we will come back to this later in this session.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define didactics in an educational context, it’s helpful to look at where the word comes from. It has its roots in Ancient Greek. The verb didáskō means to teach, to instruct, or to show. The adjective didaktos means taught, while didaktikos refers to someone who is able or apt to teach.</a:t>
            </a:r>
          </a:p>
          <a:p>
            <a:pPr lvl="0" indent="0" marL="0">
              <a:buNone/>
            </a:pPr>
          </a:p>
          <a:p>
            <a:pPr lvl="0" indent="0" marL="0">
              <a:buNone/>
            </a:pPr>
            <a:r>
              <a:rPr/>
              <a:t>Today, this definition has expanded a little, as we will see next.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Within the realm of school pedagogics, didactics consists in planning and organizing successful processes of students’ learning. According to Dolch’s (1967) seminal definition, didactics is the science of learning and teaching in general. This definition was later expanded to specifically include teaching and learning strategies connnected to the design and formulation of learning contents.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definition of didactics by Stockholm University also captures this concept well. Didactics is the art and science of teaching and learning. It is a field within education that seeks to answer three central questions: What should be taught, how should it be taught, and why should it be taught? Didactics encompasses questions about how learning takes place in different contexts. It can be seen as the planning, implementation, and analysis of teaching, with a particular focus on why certain goals, content, and methods are chosen.</a:t>
            </a:r>
          </a:p>
          <a:p>
            <a:pPr lvl="0" indent="0" marL="0">
              <a:buNone/>
            </a:pPr>
          </a:p>
          <a:p>
            <a:pPr lvl="0" indent="0" marL="0">
              <a:buNone/>
            </a:pPr>
            <a:r>
              <a:rPr/>
              <a:t>Here we have an important key point: the instructors choice of content and methods, and what learners learn. You can view didactics as a framework in which knowledge and skills are not passively presented, but understood and retained in a carefully designed context.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natural follow-up question from didactics: What is learning to you? How would you define it? What expectations or assumptions come with it?</a:t>
            </a:r>
          </a:p>
          <a:p>
            <a:pPr lvl="0" indent="0" marL="0">
              <a:buNone/>
            </a:pPr>
          </a:p>
          <a:p>
            <a:pPr lvl="0" indent="0" marL="0">
              <a:buNone/>
            </a:pPr>
            <a:r>
              <a:rPr b="1"/>
              <a:t>Instructor Notes</a:t>
            </a:r>
            <a:r>
              <a:rPr/>
              <a:t>: Use an interactive tool such as a wordcloud generator for this to engage your learners. Keep in mind that your learners may have very different educational, cultural, or professional backgrounds, which will shape how they define learning. Moreover, because the question is personal and open-ended, learners need to feel comfortable sharing ideas without fear of being judged or “wrong.” Importantly, use this as an opportunity to understand what learners prior conceptualization of this process is.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Pulling together our discussion from before, this definition from Lovett et al. (2023) and Ambrose et al. shifts the focus from learning as information being presented to learning as a process that leads to change.</a:t>
            </a:r>
          </a:p>
          <a:p>
            <a:pPr lvl="0" indent="0" marL="0">
              <a:buNone/>
            </a:pPr>
          </a:p>
          <a:p>
            <a:pPr lvl="0" indent="0" marL="0">
              <a:buNone/>
            </a:pPr>
            <a:r>
              <a:rPr/>
              <a:t>Simply being exposed to information is not enough; learners need to actively engage with it.</a:t>
            </a:r>
          </a:p>
          <a:p>
            <a:pPr lvl="0" indent="0" marL="0">
              <a:buNone/>
            </a:pPr>
          </a:p>
          <a:p>
            <a:pPr lvl="0" indent="0" marL="0">
              <a:buNone/>
            </a:pPr>
            <a:r>
              <a:rPr/>
              <a:t>Importantly, learning also increases the potential for improved performance and future learning, building capacity for continued growth.</a:t>
            </a:r>
          </a:p>
          <a:p>
            <a:pPr lvl="0" indent="0" marL="0">
              <a:buNone/>
            </a:pPr>
          </a:p>
          <a:p>
            <a:pPr lvl="0" indent="0" marL="0">
              <a:buNone/>
            </a:pPr>
            <a:r>
              <a:rPr/>
              <a:t>Overall, this aligns with what in educational sciences is known as constructivism, which emphasizes active engagement, experience, and developing understanding over time rather than passively receiving information.</a:t>
            </a:r>
          </a:p>
          <a:p>
            <a:pPr lvl="0" indent="0" marL="0">
              <a:buNone/>
            </a:pPr>
          </a:p>
          <a:p>
            <a:pPr lvl="0" indent="0" marL="0">
              <a:buNone/>
            </a:pPr>
            <a:r>
              <a:rPr b="1"/>
              <a:t>Instructor Notes</a:t>
            </a:r>
            <a:r>
              <a:rPr/>
              <a:t>: This slide is a good moment to go back to the previous activity whereby learners were thinking about their existing concepts of “learning” and compare and integrate some of the ideas that were put forward by learners with this definition.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Learning does not happen in a vacuum, but the context in which it happens matters. Also, learners see new skills and new knowledge through the lens of what they already know. It is also not the case that knowledge and new skills can somehow be transmitted from the teacher or the instructor to the learner.</a:t>
            </a:r>
          </a:p>
          <a:p>
            <a:pPr lvl="0" indent="0" marL="0">
              <a:buNone/>
            </a:pPr>
          </a:p>
          <a:p>
            <a:pPr lvl="0" indent="0" marL="0">
              <a:buNone/>
            </a:pPr>
            <a:r>
              <a:rPr/>
              <a:t>What this means in practice is that learners are not “empty vessels” waiting to be filled with information, but their context and their prior knowledge has to be taken into accoount. Prior knowledge therefore plays a central role in how new information is understood, and sometimes it can even support learning, or get in the way if existing ideas conflict with new ones.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idea that learning is not simply “being transmitted” from an instructor to learners, but more as something that learners actively achieve is captured by constructivism. Constructivism views learning as an active process shaped by prior knowledge and the learning context.</a:t>
            </a:r>
          </a:p>
          <a:p>
            <a:pPr lvl="0" indent="0" marL="0">
              <a:buNone/>
            </a:pPr>
          </a:p>
          <a:p>
            <a:pPr lvl="0" indent="0" marL="0">
              <a:buNone/>
            </a:pPr>
            <a:r>
              <a:rPr b="1"/>
              <a:t>Instructor Notes</a:t>
            </a:r>
            <a:r>
              <a:rPr/>
              <a:t>: Check for understanding here, this is a key point of today’s session.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we just heard, prior knowledge plays an important role in constructivism. But also we know that not everything we know is true or complete. Knowledge, here defined as facts, concepts, beliefs, values, models, perceptions and attitudes, may be complete or appropriate or a context, or may be incomplete or inappropriate.</a:t>
            </a:r>
          </a:p>
          <a:p>
            <a:pPr lvl="0" indent="0" marL="0">
              <a:buNone/>
            </a:pPr>
          </a:p>
          <a:p>
            <a:pPr lvl="0" indent="0" marL="0">
              <a:buNone/>
            </a:pPr>
            <a:r>
              <a:rPr/>
              <a:t>For example, I could have the “belief” that research published in open access journals means that it is lower quality compared to research published in journals with a high impact factor such as Nature. When I now encounter Open Access publishing, say someone tells me that my paper would fit well in this open access journal, I may reject the idea. The information I might be missing here is in essence that research quality depends on methodological rigor and peer review, not paywalls or access restrictions. Within a constructivist view, I would integrate this piece of information with my existing belief to form a more complete and accurate model. This process of intergration is what ultimately will make me move towards becoming an expert.</a:t>
            </a:r>
          </a:p>
          <a:p>
            <a:pPr lvl="0" indent="0" marL="0">
              <a:buNone/>
            </a:pPr>
          </a:p>
          <a:p>
            <a:pPr lvl="0" indent="0" marL="0">
              <a:buNone/>
            </a:pPr>
            <a:r>
              <a:rPr/>
              <a:t>We will also talk more about assessing prior knowledge in the following sessions.</a:t>
            </a:r>
          </a:p>
          <a:p>
            <a:pPr lvl="0" indent="0" marL="0">
              <a:buNone/>
            </a:pPr>
          </a:p>
          <a:p>
            <a:pPr lvl="0" indent="0" marL="0">
              <a:buNone/>
            </a:pPr>
            <a:r>
              <a:rPr b="1"/>
              <a:t>Instructor Notes</a:t>
            </a:r>
            <a:r>
              <a:rPr/>
              <a:t>: Idea for adding an interactive element: Ask if someone in the audience can think of another example where prior knowledge might be interfering with the learning process in the context of Open Science.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 important question to ask at this point is what “being an expert” actually means. Please take a few moments to think about these three questions for yourselves. We will then share your thoughts in the larger group. Take 3 minutes for this exercise.</a:t>
            </a:r>
          </a:p>
          <a:p>
            <a:pPr lvl="0" indent="0" marL="0">
              <a:buNone/>
            </a:pPr>
          </a:p>
          <a:p>
            <a:pPr lvl="0" indent="0" marL="0">
              <a:buNone/>
            </a:pPr>
            <a:r>
              <a:rPr b="1"/>
              <a:t>Instructor Notes</a:t>
            </a:r>
            <a:r>
              <a:rPr/>
              <a:t>: </a:t>
            </a:r>
            <a:r>
              <a:rPr i="1"/>
              <a:t>For the discussion round</a:t>
            </a:r>
            <a:r>
              <a:rPr/>
              <a:t>: When reviewing the answers, you will find that the expert experience amounts to much more than just knowing more facts in your learners. What makes an expert? The answer is that experts have more connections among pieces of knowledge that help them think and problem-solve quickly; more “short-cuts”, if you will.</a:t>
            </a:r>
          </a:p>
          <a:p>
            <a:pPr lvl="0" indent="0" marL="0">
              <a:buNone/>
            </a:pPr>
          </a:p>
          <a:p>
            <a:pPr lvl="0" indent="0" marL="0">
              <a:buNone/>
            </a:pPr>
            <a:r>
              <a:rPr i="1"/>
              <a:t>Idea for a group activity</a:t>
            </a:r>
            <a:r>
              <a:rPr/>
              <a:t>: Replace the individual work with work in pairs. Use the think-pair-share method (Mundelsee &amp; Jurkowski, 2021): Think for two minutes for yourself, collect your thoughts with a partner for two minutes, then we discuss in the large group for two minutes.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increasing experience level, we move from one type of learner and mental model to another. Simplified, you could look at the types ot learners in terms of novice, competent practitioner, and expert. Here, the differences between these levels of learners can be summarized as starting from: unsure what questions to ask to I know something, but have to look up things to I am super experienced at this stage and basically do not have to think anymore. Let me give you examples for each type of learner:</a:t>
            </a:r>
          </a:p>
          <a:p>
            <a:pPr lvl="0" indent="0" marL="0">
              <a:buNone/>
            </a:pPr>
          </a:p>
          <a:p>
            <a:pPr lvl="0"/>
            <a:r>
              <a:rPr b="1"/>
              <a:t>Novice</a:t>
            </a:r>
            <a:r>
              <a:rPr/>
              <a:t>: Someone who does not know what they do not know, i.e., they do not yet know what the key ideas in the domain are or how they relate. Novices may have difficulty formulating questions, or may ask questions that seem irrelevant or off-topic as they rely on prior knowledge, without knowing what is or is not related yet.</a:t>
            </a:r>
          </a:p>
          <a:p>
            <a:pPr lvl="0" indent="0" marL="0">
              <a:buNone/>
            </a:pPr>
          </a:p>
          <a:p>
            <a:pPr lvl="0"/>
            <a:r>
              <a:rPr b="1"/>
              <a:t>Competent practitioner</a:t>
            </a:r>
            <a:r>
              <a:rPr/>
              <a:t>: Someone who has enough understanding for everyday purposes. They will not know all the details of how something works and their understanding may not be entirely accurate, but it is sufficient for completing normal tasks with normal effort under normal circumstances.</a:t>
            </a:r>
          </a:p>
          <a:p>
            <a:pPr lvl="0" indent="0" marL="0">
              <a:buNone/>
            </a:pPr>
          </a:p>
          <a:p>
            <a:pPr lvl="0"/>
            <a:r>
              <a:rPr b="1"/>
              <a:t>Expert</a:t>
            </a:r>
            <a:r>
              <a:rPr/>
              <a:t>: Someone who can easily handle typical situations and those that are out of the ordinary.</a:t>
            </a:r>
          </a:p>
          <a:p>
            <a:pPr lvl="0" indent="0" marL="0">
              <a:buNone/>
            </a:pPr>
          </a:p>
          <a:p>
            <a:pPr lvl="0" indent="0" marL="0">
              <a:buNone/>
            </a:pPr>
            <a:r>
              <a:rPr/>
              <a:t>Note that how a person feels about their skill level is not included in these definitions! You may or may not consider yourself an expert in a particular subject, but may nonetheless function at that level in certain contexts.</a:t>
            </a:r>
          </a:p>
          <a:p>
            <a:pPr lvl="0" indent="0" marL="0">
              <a:buNone/>
            </a:pPr>
          </a:p>
          <a:p>
            <a:pPr lvl="0" indent="0" marL="0">
              <a:buNone/>
            </a:pPr>
            <a:r>
              <a:rPr/>
              <a:t>Next, we will briefly explore the nature of “knowledge” through a concept that helps us differentiate between novices and competent practitioners in a more useful and visual way. This, in turn, will have implications for how we teach.</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How could we visualize this increasing expertise? We could think if it in terms of connectivity between nodes, representing facts, and relationships representing links.</a:t>
            </a:r>
          </a:p>
          <a:p>
            <a:pPr lvl="0" indent="0" marL="0">
              <a:buNone/>
            </a:pPr>
          </a:p>
          <a:p>
            <a:pPr lvl="0" indent="0" marL="0">
              <a:buNone/>
            </a:pPr>
            <a:r>
              <a:rPr/>
              <a:t>A novice may have a smaller number of nodes, i.e., less facts, and fewer connections between nodes. They may not know what questions to ask because important nodes or facts and links between them are missing. Conclusions drawn by others may therefore not be obvious.</a:t>
            </a:r>
          </a:p>
          <a:p>
            <a:pPr lvl="0" indent="0" marL="0">
              <a:buNone/>
            </a:pPr>
          </a:p>
          <a:p>
            <a:pPr lvl="0" indent="0" marL="0">
              <a:buNone/>
            </a:pPr>
            <a:r>
              <a:rPr/>
              <a:t>A competent practitioner has a mental model with more notes and more connections between them. They would be able to draw conclusions by going from A to B to C and reason that therefore F has to make sense. They would know what questions to ask and be able to evaluate their work.</a:t>
            </a:r>
          </a:p>
          <a:p>
            <a:pPr lvl="0" indent="0" marL="0">
              <a:buNone/>
            </a:pPr>
          </a:p>
          <a:p>
            <a:pPr lvl="0" indent="0" marL="0">
              <a:buNone/>
            </a:pPr>
            <a:r>
              <a:rPr/>
              <a:t>An expert has a densely populated and connected mental model that is especially good for problem solving. They quickly connect concepts that others may not see as being related. They would see connections between topics that others cannot see, and are able to go straight from one node to another without making any detours. They would also be able to take different perspectives for solving a problem. They may have difficulty explaining how they are thinking to others, this is called the expert awareness gap.</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Taking Open Access skills as an example.</a:t>
            </a:r>
          </a:p>
          <a:p>
            <a:pPr lvl="0" indent="0" marL="0">
              <a:buNone/>
            </a:pPr>
          </a:p>
          <a:p>
            <a:pPr lvl="0"/>
            <a:r>
              <a:rPr/>
              <a:t>A </a:t>
            </a:r>
            <a:r>
              <a:rPr b="1"/>
              <a:t>novice</a:t>
            </a:r>
            <a:r>
              <a:rPr/>
              <a:t> learner in a Open Access workshop might never have heard of the Green Open Access model, and therefore may have no understanding of how it affects both the authors of academic papers as well as the readers of papers.</a:t>
            </a:r>
          </a:p>
          <a:p>
            <a:pPr lvl="0" indent="0" marL="0">
              <a:buNone/>
            </a:pPr>
          </a:p>
          <a:p>
            <a:pPr lvl="0"/>
            <a:r>
              <a:rPr/>
              <a:t>A </a:t>
            </a:r>
            <a:r>
              <a:rPr b="1"/>
              <a:t>competent practitioner</a:t>
            </a:r>
            <a:r>
              <a:rPr/>
              <a:t> in the context of an Open Access workshop might be able to check funder’s requirements, knows that different licences exist and can make a choice between “default” licenses, but might not know specific details about each licence and cannot make a suitable licensing choice for egde cases.</a:t>
            </a:r>
          </a:p>
          <a:p>
            <a:pPr lvl="0" indent="0" marL="0">
              <a:buNone/>
            </a:pPr>
          </a:p>
          <a:p>
            <a:pPr lvl="0"/>
            <a:r>
              <a:rPr/>
              <a:t>An </a:t>
            </a:r>
            <a:r>
              <a:rPr b="1"/>
              <a:t>expert</a:t>
            </a:r>
            <a:r>
              <a:rPr/>
              <a:t> publishes perhaps strategically across gold, green and diamond open access routes. Selects and applies different Creative Commons licenses based on reuse goals. Trains others in Open Access practices and institutional policy. Consults on unusual situations, e.g., checks embargo policies and copyright, recommends alternative journals, meaning that they adapt and apply the knowledge and skills flexibly depending on the situation.</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compare these mental models across the different types of learners with a concrete example. With your neighbor, think of an open science topic of your choice, not open access since we already had a few examples related to this. Sketch out the mental model of a novice in comparison to a competent practitioner and an expert and provide at least two concrete examples of how the organization of knowledge differs among these types of learners. Write down your thoughts over the next 8 minutes.</a:t>
            </a:r>
          </a:p>
          <a:p>
            <a:pPr lvl="0" indent="0" marL="0">
              <a:buNone/>
            </a:pPr>
          </a:p>
          <a:p>
            <a:pPr lvl="0" indent="0" marL="0">
              <a:buNone/>
            </a:pPr>
            <a:r>
              <a:rPr b="1"/>
              <a:t>Instructor Notes</a:t>
            </a:r>
            <a:r>
              <a:rPr/>
              <a:t>: Give learners 8-10 minutes for this exercise. Collect at least one example and discuss in the big groupfor another 2-3 minutes.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briefly recap what we have learned so far:</a:t>
            </a:r>
          </a:p>
          <a:p>
            <a:pPr lvl="0" indent="0" marL="0">
              <a:buNone/>
            </a:pPr>
          </a:p>
          <a:p>
            <a:pPr lvl="0"/>
            <a:r>
              <a:rPr/>
              <a:t>Didactics focuses on planning and organizing teaching to support meaningful learning outcomes.</a:t>
            </a:r>
          </a:p>
          <a:p>
            <a:pPr lvl="0" indent="0" marL="0">
              <a:buNone/>
            </a:pPr>
          </a:p>
          <a:p>
            <a:pPr lvl="0" indent="0" marL="0">
              <a:buNone/>
            </a:pPr>
            <a:r>
              <a:rPr/>
              <a:t>Learning is active: learners construct understanding by connecting new information to prior knowledge, experiences, beliefs, and mental models. The learning context and activities also influence learning.</a:t>
            </a:r>
          </a:p>
          <a:p>
            <a:pPr lvl="0" indent="0" marL="0">
              <a:buNone/>
            </a:pPr>
          </a:p>
          <a:p>
            <a:pPr lvl="0"/>
            <a:r>
              <a:rPr/>
              <a:t>Mental models develop with expertise: novices have limited and fragmented knowledge structures; competent practitioners have functional structures for everyday problem solving; experts have highly connected models that support complex problem solving and flexible application of knowledge.</a:t>
            </a:r>
          </a:p>
          <a:p>
            <a:pPr lvl="0" indent="0" marL="0">
              <a:buNone/>
            </a:pPr>
          </a:p>
          <a:p>
            <a:pPr lvl="0"/>
            <a:r>
              <a:rPr/>
              <a:t>Effective teaching starts from learners’ existing knowledge and designs experiences that help them progress from novice to competent practitioner and ultimately toward expertise.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have talked about mental models, next we want to talk about things that could help us move from novice learners to experts. Think about something that you are currently learning or learned how to do. What helps you with organizing your knowledge, beliefs, prior skills, etc. in your mental model, for example in the context of a workshop or course? Think back about things that you encountered in workshops or courses, or even things you have seen during this session. Write down thoughts for yourself (3 mins). Then discuss with your neighbor (4 mins). We will then discuss in the larger group (4 mins).</a:t>
            </a:r>
          </a:p>
          <a:p>
            <a:pPr lvl="0" indent="0" marL="0">
              <a:buNone/>
            </a:pPr>
          </a:p>
          <a:p>
            <a:pPr lvl="0" indent="0" marL="0">
              <a:buNone/>
            </a:pPr>
            <a:r>
              <a:rPr b="1"/>
              <a:t>Instructor Notes</a:t>
            </a:r>
            <a:r>
              <a:rPr/>
              <a:t>: Ask for interaction from the audience or make it an individual activity. If there are no volunteers, pick a group yourself and ask for additional contributions Allow for approx. 12 minutes for this exercise.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Some strategies could be:</a:t>
            </a:r>
          </a:p>
          <a:p>
            <a:pPr lvl="0" indent="0" marL="0">
              <a:buNone/>
            </a:pPr>
          </a:p>
          <a:p>
            <a:pPr lvl="0"/>
            <a:r>
              <a:rPr/>
              <a:t>Provide the Big Picture: Give learners a clear overview of the workshop or course structure. Tell them what is expecting them, how it fits with the rest of the teaching context and what they are working towards.</a:t>
            </a:r>
          </a:p>
          <a:p>
            <a:pPr lvl="0" indent="0" marL="0">
              <a:buNone/>
            </a:pPr>
          </a:p>
          <a:p>
            <a:pPr lvl="0"/>
            <a:r>
              <a:rPr/>
              <a:t>Communicate expectations: Clearly communicate the session’s objectives and what learners are expected to achieve.</a:t>
            </a:r>
          </a:p>
          <a:p>
            <a:pPr lvl="0" indent="0" marL="0">
              <a:buNone/>
            </a:pPr>
          </a:p>
          <a:p>
            <a:pPr lvl="0"/>
            <a:r>
              <a:rPr/>
              <a:t>Focus on discovering more about prior knowledge: Use activities or quiz questions to uncover what learners already know.</a:t>
            </a:r>
          </a:p>
          <a:p>
            <a:pPr lvl="0" indent="0" marL="0">
              <a:buNone/>
            </a:pPr>
          </a:p>
          <a:p>
            <a:pPr lvl="0"/>
            <a:r>
              <a:rPr/>
              <a:t>Make connections visible: Explicitly link related concepts and encourage learners to identify connections themselves through activities such as sorting or concept mapping.</a:t>
            </a:r>
          </a:p>
          <a:p>
            <a:pPr lvl="0" indent="0" marL="0">
              <a:buNone/>
            </a:pPr>
          </a:p>
          <a:p>
            <a:pPr lvl="0"/>
            <a:r>
              <a:rPr/>
              <a:t>Monitor learning progress: Check learners’ progress to identify gaps or problems in how they organize and understand knowledge. This can be supported through small assessment tasks or structured feedback that make learners’ thinking visible over time.</a:t>
            </a:r>
          </a:p>
          <a:p>
            <a:pPr lvl="0" indent="0" marL="0">
              <a:buNone/>
            </a:pPr>
          </a:p>
          <a:p>
            <a:pPr lvl="0"/>
            <a:r>
              <a:rPr/>
              <a:t>Formulate learning objectives: Use clear objectives to guide learners and keep their learning focused.</a:t>
            </a:r>
          </a:p>
          <a:p>
            <a:pPr lvl="0" indent="0" marL="0">
              <a:buNone/>
            </a:pPr>
          </a:p>
          <a:p>
            <a:pPr lvl="0" indent="0" marL="0">
              <a:buNone/>
            </a:pPr>
            <a:r>
              <a:rPr b="1"/>
              <a:t>Instructor Notes</a:t>
            </a:r>
            <a:r>
              <a:rPr/>
              <a:t>: Refer back to the answers from your learners from the previous task.</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Connected to the last point on the previous slide, we are coming to another core didactic principle besides prior knowledge, constructivism, mental models and constructive alignment, namely setting learning objectives.</a:t>
            </a:r>
          </a:p>
          <a:p>
            <a:pPr lvl="0" indent="0" marL="0">
              <a:buNone/>
            </a:pPr>
          </a:p>
          <a:p>
            <a:pPr lvl="0" indent="0" marL="0">
              <a:buNone/>
            </a:pPr>
            <a:r>
              <a:rPr/>
              <a:t>These quotes here represent the famous conversation between Alice and the Cheshire Cat in Alice in Wonderland. Just as Alice cannot choose the right path without knowing where she wants to go, instructors cannot teach effectively without clear learning objectives.</a:t>
            </a:r>
          </a:p>
          <a:p>
            <a:pPr lvl="0" indent="0" marL="0">
              <a:buNone/>
            </a:pPr>
          </a:p>
          <a:p>
            <a:pPr lvl="0" indent="0" marL="0">
              <a:buNone/>
            </a:pPr>
            <a:r>
              <a:rPr/>
              <a:t>Clear objectives provide direction and intentionality, making them especially important in Open Science, a field that can sometimes seem abstract or ideological to learners.</a:t>
            </a:r>
          </a:p>
          <a:p>
            <a:pPr lvl="0" indent="0" marL="0">
              <a:buNone/>
            </a:pPr>
          </a:p>
          <a:p>
            <a:pPr lvl="0" indent="0" marL="0">
              <a:buNone/>
            </a:pPr>
            <a:r>
              <a:rPr b="1"/>
              <a:t>Instructor Notes</a:t>
            </a:r>
            <a:r>
              <a:rPr/>
              <a:t>: Emphasize the importance of clear learning objectives in the context of Open Science. Clear learning objectives create the direction that allows open science education to move from awareness toward genuine cultural and practical change in research, which is what is currently (desperately perhaps) needed.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we talk about learning objectives, we are referring to more than simply describing what content a teacher will cover. A learning objective describes what learners should be able to do after an intervention, or a teaching activity. According to Mager and colleagues, well-formulated objectives specify three important elements: the intended performance, what learners should demonstrate; the conditions under which this performance takes place; and the criteria for success, how we determine whether the learning goal has been achieved.</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Generally speaking, the instructor needs to formulate general, designated and specific learning objectives, as shown in this learning objectives hierarchy.</a:t>
            </a:r>
          </a:p>
          <a:p>
            <a:pPr lvl="0" indent="0" marL="0">
              <a:buNone/>
            </a:pPr>
          </a:p>
          <a:p>
            <a:pPr lvl="0"/>
            <a:r>
              <a:rPr/>
              <a:t>General objectives; What are the learning objectives for a course as a whole (e.g. producing transparent and reproducible research)</a:t>
            </a:r>
          </a:p>
          <a:p>
            <a:pPr lvl="0" indent="0" marL="0">
              <a:buNone/>
            </a:pPr>
          </a:p>
          <a:p>
            <a:pPr lvl="0"/>
            <a:r>
              <a:rPr/>
              <a:t>Designated objectives: What are the learning objectives for a specific subject area (e.g. use FAIR data principles when organizing and publishing research data)</a:t>
            </a:r>
          </a:p>
          <a:p>
            <a:pPr lvl="0" indent="0" marL="0">
              <a:buNone/>
            </a:pPr>
          </a:p>
          <a:p>
            <a:pPr lvl="0"/>
            <a:r>
              <a:rPr/>
              <a:t>Specific objectives: What are the learning objectives for a learning unit (e.g., upload a dataset to an open repository with appropriate metadata)</a:t>
            </a:r>
          </a:p>
          <a:p>
            <a:pPr lvl="0" indent="0" marL="0">
              <a:buNone/>
            </a:pPr>
          </a:p>
          <a:p>
            <a:pPr lvl="0" indent="0" marL="0">
              <a:buNone/>
            </a:pPr>
            <a:r>
              <a:rPr/>
              <a:t>When preparing a teaching unit, it is important to gain an overview of the location of the learning objectives within this hierarchy to be pursued. Each learning objective is embedded in preceding and subsequent learning objectives. In order to reach the next level of learning objectives, it is necessary for the learning success that the foundation of the lower levels has been laid.</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mentioned before, clearly laying out expectations and what you want your learners to achieve for a given workshop is key to help with the organization of the mental model. Constructive alignment provides a clear framework for this. It means ensuring that three core elements of teaching, namely learning objectives/ outcomes, teaching/learning activities, and assessment tasks work together and are aligned with each other. If there is any misalignment, it can confuse learners or make the learning process less effective.</a:t>
            </a:r>
          </a:p>
          <a:p>
            <a:pPr lvl="0" indent="0" marL="0">
              <a:buNone/>
            </a:pPr>
          </a:p>
          <a:p>
            <a:pPr lvl="0" indent="0" marL="0">
              <a:buNone/>
            </a:pPr>
            <a:r>
              <a:rPr/>
              <a:t>In constructive alignment, we start with the outcomes we intend learners to learn, and align teaching and assessment to those outcomes. The outcome statements contain a learning activity and typically a verb says what the relevant learning activities are that the learners need to undertake in order to obtain the intended learning outcome.</a:t>
            </a:r>
          </a:p>
          <a:p>
            <a:pPr lvl="0" indent="0" marL="0">
              <a:buNone/>
            </a:pPr>
          </a:p>
          <a:p>
            <a:pPr lvl="0" indent="0" marL="0">
              <a:buNone/>
            </a:pPr>
            <a:r>
              <a:rPr/>
              <a:t>Learning is constructed by what activities the learners carry out; learning is about what your learners do, not about what instructors do. Likewise, assessment is about how well learners achieve the intended outcomes, not about how well learners report back to us what we have told them or what they have read’ (Biggs n.d.).</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example, in an open research context, say that at the end of the session, you want your learners to independently prepare metadata for a paper they wrote in a previous session for it to be published as a preprint. For this, it would be unhelpful if you only had a learning activity during you session where learners need to describe what a preprint is. What would be a more aligned teaching activity would be to have them practice to compile metadata from a sample manuscript and extract information such as title, authors, abstract, keywords, subject categories etc.</a:t>
            </a:r>
          </a:p>
          <a:p>
            <a:pPr lvl="0" indent="0" marL="0">
              <a:buNone/>
            </a:pPr>
          </a:p>
          <a:p>
            <a:pPr lvl="0" indent="0" marL="0">
              <a:buNone/>
            </a:pPr>
            <a:r>
              <a:rPr b="1"/>
              <a:t>Instructor Notes</a:t>
            </a:r>
            <a:r>
              <a:rPr/>
              <a:t>: </a:t>
            </a:r>
            <a:r>
              <a:rPr i="1"/>
              <a:t>Ideas for interactive elements</a:t>
            </a:r>
            <a:r>
              <a:rPr/>
              <a:t>: Ask if someone in your audience has already heard about this concept. Ask to provide examples.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this next exercise, I would like for you to match the assessment task with a given learning objective. We will learn more about learning objectives and how to formulate them later. For now, focus on the alignment aspect: does the learning objective match with the assessment task? Work in pairs. Take 8 minutes for this activity.</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Discussion of solutions in the plenum and potential discussions. The solutions are: - A2 - B3 - C4 - D1</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talk about the formulation of learning objectives, which is visualized here. We need to first start with: who are we teaching? Next, the verbs matter! Pick them wisely in an active tense. Third, match the assessment task to your learning objective and make sure it fits the timeframe you have. Fourth, ensure the learning objective is measurable.</a:t>
            </a:r>
          </a:p>
          <a:p>
            <a:pPr lvl="0" indent="0" marL="0">
              <a:buNone/>
            </a:pPr>
          </a:p>
          <a:p>
            <a:pPr lvl="0" indent="0" marL="0">
              <a:buNone/>
            </a:pPr>
            <a:r>
              <a:rPr/>
              <a:t>Luckily, there is a framework that can help us with this even more.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let’s say we want to define our learning objectives, and we know where in the hierarchy we want to begin.</a:t>
            </a:r>
          </a:p>
          <a:p>
            <a:pPr lvl="0" indent="0" marL="0">
              <a:buNone/>
            </a:pPr>
          </a:p>
          <a:p>
            <a:pPr lvl="0" indent="0" marL="0">
              <a:buNone/>
            </a:pPr>
            <a:r>
              <a:rPr/>
              <a:t>We need to be more specific in </a:t>
            </a:r>
            <a:r>
              <a:rPr i="1"/>
              <a:t>what</a:t>
            </a:r>
            <a:r>
              <a:rPr/>
              <a:t> we want our learners to learn. A useful framework is to divide learning objectives into three domains. The first domain is the cognitive domain, which focuses on knowledge and thinking. The second domain is the affective domain, which focuses on feelings, attitudes, values, and personal growth. The third domain is the psychomotor domain, which focuses on physical or technical skills and behavioral change. All three are important in the context of Open Research.</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cognitive domain, building knolledge and thinking skills is the primary objective. This framework was first conceptualized by Bloom (Bloom 1956) and is what we typically mean by Bloom’s taxonomy (Bloom et al., 1964). It is an empirical model for describing and classifying the cognitive skills that learners should have mastered at the end of a course or session.</a:t>
            </a:r>
          </a:p>
          <a:p>
            <a:pPr lvl="0" indent="0" marL="0">
              <a:buNone/>
            </a:pPr>
          </a:p>
          <a:p>
            <a:pPr lvl="0" indent="0" marL="0">
              <a:buNone/>
            </a:pPr>
            <a:r>
              <a:rPr/>
              <a:t>Example from Open Science: The learning objective focuses on analysis, requiring learners to critically examine how Open Science practices support transparency and reproducibility. This involves comparing, evaluating, and interpreting research processes. The teaching activity supports this by having learners compare real research workflows from papers, such as a traditional analysis pipeline with one using version control, preregistration, or shared data. They identify differences in transparency and reproducibility. The assessment is a group presentation in which learners explain the strengths and limitations of different practices and justify their evaluation using evidence, while developing collaborative reasoning.</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you see is the pyramid of learning objective verbs by Anderson and Krathwohl (Anderson &amp; Krathwohl, 2001) who changed the taxonomy from nouns to verbs. It organizes learning objectives into a hierarchy of cognitive processes. It is often shown as a pyramid because it moves from simpler thinking skills at the base to more complex, higher-order thinking at the top.</a:t>
            </a:r>
          </a:p>
          <a:p>
            <a:pPr lvl="0" indent="0" marL="0">
              <a:buNone/>
            </a:pPr>
          </a:p>
          <a:p>
            <a:pPr lvl="0" indent="0" marL="0">
              <a:buNone/>
            </a:pPr>
            <a:r>
              <a:rPr/>
              <a:t>At the </a:t>
            </a:r>
            <a:r>
              <a:rPr b="1"/>
              <a:t>Remember</a:t>
            </a:r>
            <a:r>
              <a:rPr/>
              <a:t> level, learners recall basic facts and definitions. For example, they might remember what the acronym FAIR data stands for without applying FAIR data principles themselves.</a:t>
            </a:r>
          </a:p>
          <a:p>
            <a:pPr lvl="0" indent="0" marL="0">
              <a:buNone/>
            </a:pPr>
          </a:p>
          <a:p>
            <a:pPr lvl="0" indent="0" marL="0">
              <a:buNone/>
            </a:pPr>
            <a:r>
              <a:rPr/>
              <a:t>At the </a:t>
            </a:r>
            <a:r>
              <a:rPr b="1"/>
              <a:t>Understand</a:t>
            </a:r>
            <a:r>
              <a:rPr/>
              <a:t> level, learners explain concepts in their own words. For instance, they might describe why open science improves transparency and reproducibility, or summarize what problems in research the reproducibility crisis highlights.</a:t>
            </a:r>
          </a:p>
          <a:p>
            <a:pPr lvl="0" indent="0" marL="0">
              <a:buNone/>
            </a:pPr>
          </a:p>
          <a:p>
            <a:pPr lvl="0" indent="0" marL="0">
              <a:buNone/>
            </a:pPr>
            <a:r>
              <a:rPr/>
              <a:t>At the </a:t>
            </a:r>
            <a:r>
              <a:rPr b="1"/>
              <a:t>Apply</a:t>
            </a:r>
            <a:r>
              <a:rPr/>
              <a:t> level, learners use knowledge in a concrete situation. An example would be a learner implementing open science practices, such as preregistering a simple experiment.</a:t>
            </a:r>
          </a:p>
          <a:p>
            <a:pPr lvl="0" indent="0" marL="0">
              <a:buNone/>
            </a:pPr>
          </a:p>
          <a:p>
            <a:pPr lvl="0" indent="0" marL="0">
              <a:buNone/>
            </a:pPr>
            <a:r>
              <a:rPr/>
              <a:t>At the </a:t>
            </a:r>
            <a:r>
              <a:rPr b="1"/>
              <a:t>Analyze</a:t>
            </a:r>
            <a:r>
              <a:rPr/>
              <a:t> level, learners break information into parts and examine relationships. For example, they might compare an open access paper with a traditionally published paper to identify differences in reproducibility.</a:t>
            </a:r>
          </a:p>
          <a:p>
            <a:pPr lvl="0" indent="0" marL="0">
              <a:buNone/>
            </a:pPr>
          </a:p>
          <a:p>
            <a:pPr lvl="0" indent="0" marL="0">
              <a:buNone/>
            </a:pPr>
            <a:r>
              <a:rPr/>
              <a:t>At the </a:t>
            </a:r>
            <a:r>
              <a:rPr b="1"/>
              <a:t>Evaluate</a:t>
            </a:r>
            <a:r>
              <a:rPr/>
              <a:t> level, learners make judgments based on criteria. In open science, this could involve critically assessing whether a published study’s open data and materials are sufficient for replication.</a:t>
            </a:r>
          </a:p>
          <a:p>
            <a:pPr lvl="0" indent="0" marL="0">
              <a:buNone/>
            </a:pPr>
          </a:p>
          <a:p>
            <a:pPr lvl="0" indent="0" marL="0">
              <a:buNone/>
            </a:pPr>
            <a:r>
              <a:rPr/>
              <a:t>At the </a:t>
            </a:r>
            <a:r>
              <a:rPr b="1"/>
              <a:t>Create</a:t>
            </a:r>
            <a:r>
              <a:rPr/>
              <a:t> level, learners produce new work by combining knowledge in original ways. For example, they might design a fully open research project with preregistration, open materials, reproducible code, and a public dataset.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affective domain was first published in 1964 by Krathwohl et al. (1964). It focuses on attitudes and values as learning outcomes. Learners become increasingly self-reliant and internally motivated as they progress through its levels. Affective objectives can be difficult to articulate and assess, but they can be observed through behaviors such as appreciating alternative perspectives, engaging thoughtfully in discussion, asking questions, and recognizing complexity. These outcomes are often closely linked to deeper thinking and lifelong learning.</a:t>
            </a:r>
          </a:p>
          <a:p>
            <a:pPr lvl="0" indent="0" marL="0">
              <a:buNone/>
            </a:pPr>
          </a:p>
          <a:p>
            <a:pPr lvl="0" indent="0" marL="0">
              <a:buNone/>
            </a:pPr>
            <a:r>
              <a:rPr/>
              <a:t>In this example, the learning objective is not simply for learners to know what preregistration is, but for them to actively engage with differing viewpoints about its advantages and disadvantages. Learners are expected to ask clarifying questions and incorporate alternative perspectives into their own arguments, demonstrating openness and reflective thinking.</a:t>
            </a:r>
          </a:p>
          <a:p>
            <a:pPr lvl="0" indent="0" marL="0">
              <a:buNone/>
            </a:pPr>
          </a:p>
          <a:p>
            <a:pPr lvl="0" indent="0" marL="0">
              <a:buNone/>
            </a:pPr>
            <a:r>
              <a:rPr/>
              <a:t>The teaching activity supports this objective through a panel discussion where learners argue either the benefits or the limitations of preregistration in scientific research. This encourages perspective-taking and respectful engagement with viewpoints they may or may not personally agree with.</a:t>
            </a:r>
          </a:p>
          <a:p>
            <a:pPr lvl="0" indent="0" marL="0">
              <a:buNone/>
            </a:pPr>
          </a:p>
          <a:p>
            <a:pPr lvl="0" indent="0" marL="0">
              <a:buNone/>
            </a:pPr>
            <a:r>
              <a:rPr/>
              <a:t>Finally, the assessment task is a reflection essay. Here, learners summarize the different arguments discussed in class and reflect on how engaging with both sides of the debate influenced their own perspective on preregistration and open science practices. This reflective component is central to assessing affective learning because it reveals how learners process, evaluate, and potentially revise their own attitudes and values.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affective domain contains five levels, from lowest to highest:</a:t>
            </a:r>
          </a:p>
          <a:p>
            <a:pPr lvl="0" indent="0" marL="0">
              <a:buNone/>
            </a:pPr>
          </a:p>
          <a:p>
            <a:pPr lvl="0"/>
            <a:r>
              <a:rPr/>
              <a:t>Receiving: Willing to listen and receive knowledge.</a:t>
            </a:r>
          </a:p>
          <a:p>
            <a:pPr lvl="0" indent="0" marL="0">
              <a:buNone/>
            </a:pPr>
          </a:p>
          <a:p>
            <a:pPr lvl="0"/>
            <a:r>
              <a:rPr/>
              <a:t>Responding: Actively participates and engages in knowledge transfer.</a:t>
            </a:r>
          </a:p>
          <a:p>
            <a:pPr lvl="0" indent="0" marL="0">
              <a:buNone/>
            </a:pPr>
          </a:p>
          <a:p>
            <a:pPr lvl="0"/>
            <a:r>
              <a:rPr/>
              <a:t>Valuing: Finds value and worth in one’s learning with motivation to continue.</a:t>
            </a:r>
          </a:p>
          <a:p>
            <a:pPr lvl="0" indent="0" marL="0">
              <a:buNone/>
            </a:pPr>
          </a:p>
          <a:p>
            <a:pPr lvl="0"/>
            <a:r>
              <a:rPr/>
              <a:t>Organizing: Integrates and compares values, resolves conflict between these values, and orders them according to priorities.</a:t>
            </a:r>
          </a:p>
          <a:p>
            <a:pPr lvl="0" indent="0" marL="0">
              <a:buNone/>
            </a:pPr>
          </a:p>
          <a:p>
            <a:pPr lvl="0"/>
            <a:r>
              <a:rPr/>
              <a:t>Characterizing: Creates a value system that controls behavior. The behavior is pervasive, consistent, predictable, and characteristic of the learner.</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psychomotor domain focuses on building physical skills and behaviors as outcome. Bloom and his colleagues did not create subcategories for skills in the psychomotor domain, but other educators did, see Dave (1970), Harrow (1972) and Simpson (1985) and other (Simpson 1966, 1972). The psychomotor domain includes physical movement, coordination, and motor skills. Development of these skills requires practice and is measured in terms of speed, precision, distance, procedures, or technical execution.</a:t>
            </a:r>
          </a:p>
          <a:p>
            <a:pPr lvl="0" indent="0" marL="0">
              <a:buNone/>
            </a:pPr>
          </a:p>
          <a:p>
            <a:pPr lvl="0" indent="0" marL="0">
              <a:buNone/>
            </a:pPr>
            <a:r>
              <a:rPr/>
              <a:t>A straightforward example could be the following: </a:t>
            </a:r>
            <a:r>
              <a:rPr i="1"/>
              <a:t>The learning objective is for learners to accurately perform CPR using correct hand placement and rhythm. This emphasizes not only knowing the steps of CPR cognitively, but being able to physically carry them out correctly in a practical situation.</a:t>
            </a:r>
          </a:p>
          <a:p>
            <a:pPr lvl="0" indent="0" marL="0">
              <a:buNone/>
            </a:pPr>
          </a:p>
          <a:p>
            <a:pPr lvl="0" indent="0" marL="0">
              <a:buNone/>
            </a:pPr>
            <a:r>
              <a:rPr/>
              <a:t>The teaching activity involves learners practicing CPR on mannequins while receiving immediate feedback. This hands-on practice is essential in the psychomotor domain because physical skills improve through repeated performance, correction, and refinement of technique.</a:t>
            </a:r>
          </a:p>
          <a:p>
            <a:pPr lvl="0" indent="0" marL="0">
              <a:buNone/>
            </a:pPr>
          </a:p>
          <a:p>
            <a:pPr lvl="0" indent="0" marL="0">
              <a:buNone/>
            </a:pPr>
            <a:r>
              <a:rPr/>
              <a:t>For Open Science, it is a little harder to find a good example. Let’s take correctly uploading and documenting a dataset using appropriate metadata and licensing. The teaching activity provides guided, practical experience with preparing datasets and using an open repository. The assessment then evaluates learners’ ability to independently carry out these technical tasks accurately and correctly.</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learning pyramid in the psychomotor domain according to Simpson’s version of the psychomotor domain has the following seven levels:</a:t>
            </a:r>
          </a:p>
          <a:p>
            <a:pPr lvl="0" indent="0" marL="0">
              <a:buNone/>
            </a:pPr>
          </a:p>
          <a:p>
            <a:pPr lvl="0"/>
            <a:r>
              <a:rPr/>
              <a:t>Perception: Use sensory cues to guide actions or movements.</a:t>
            </a:r>
          </a:p>
          <a:p>
            <a:pPr lvl="0" indent="0" marL="0">
              <a:buNone/>
            </a:pPr>
          </a:p>
          <a:p>
            <a:pPr lvl="0"/>
            <a:r>
              <a:rPr/>
              <a:t>Set: Demonstrates a readiness (physically, mentally, emotionally, and spiritually) to take action to perform the task or objective. (NOTE: This level of the Psychomotor domain is closely related to the “Responding to phenomena” level of the Affective domain).</a:t>
            </a:r>
          </a:p>
          <a:p>
            <a:pPr lvl="0" indent="0" marL="0">
              <a:buNone/>
            </a:pPr>
          </a:p>
          <a:p>
            <a:pPr lvl="0"/>
            <a:r>
              <a:rPr/>
              <a:t>Guided response: Knows steps required to complete the task or objective and learns through trial and error by practicing.</a:t>
            </a:r>
          </a:p>
          <a:p>
            <a:pPr lvl="0" indent="0" marL="0">
              <a:buNone/>
            </a:pPr>
          </a:p>
          <a:p>
            <a:pPr lvl="0"/>
            <a:r>
              <a:rPr/>
              <a:t>Mechanism: Performs task or objective in a somewhat confident, proficient, and habitual manner.</a:t>
            </a:r>
          </a:p>
          <a:p>
            <a:pPr lvl="0" indent="0" marL="0">
              <a:buNone/>
            </a:pPr>
          </a:p>
          <a:p>
            <a:pPr lvl="0"/>
            <a:r>
              <a:rPr/>
              <a:t>Complex overt response: Performs task or objective in a confident, proficient, and habitual manner. Expert level, high proficiency and performs with accuracy.</a:t>
            </a:r>
          </a:p>
          <a:p>
            <a:pPr lvl="0" indent="0" marL="0">
              <a:buNone/>
            </a:pPr>
          </a:p>
          <a:p>
            <a:pPr lvl="0"/>
            <a:r>
              <a:rPr/>
              <a:t>Adaptation: Performs task or objective and can modify actions to account for new or problematic situations.</a:t>
            </a:r>
          </a:p>
          <a:p>
            <a:pPr lvl="0" indent="0" marL="0">
              <a:buNone/>
            </a:pPr>
          </a:p>
          <a:p>
            <a:pPr lvl="0"/>
            <a:r>
              <a:rPr/>
              <a:t>Origination: Create new procedures and solutions to approach various situations.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recap: Bloom’s taxonomy is a hierarchical model used for classifying learning objectives by levels of complexity and specificity. Bloom’s taxonomy was created to outline and clarify how learners acquire new knowledge and skills. Though the original intention of the taxonomy was to serve as an assessment tool, Bloom’s taxonomy is effective in helping instructors identify clear learning objectives as well as create purposeful learning activities and instructional materials.</a:t>
            </a:r>
          </a:p>
          <a:p>
            <a:pPr lvl="0" indent="0" marL="0">
              <a:buNone/>
            </a:pPr>
          </a:p>
          <a:p>
            <a:pPr lvl="0" indent="0" marL="0">
              <a:buNone/>
            </a:pPr>
            <a:r>
              <a:rPr/>
              <a:t>There are three learning domains:</a:t>
            </a:r>
          </a:p>
          <a:p>
            <a:pPr lvl="0" indent="0" marL="0">
              <a:buNone/>
            </a:pPr>
          </a:p>
          <a:p>
            <a:pPr lvl="0"/>
            <a:r>
              <a:rPr/>
              <a:t>Cognitive: knowledge or thinking</a:t>
            </a:r>
          </a:p>
          <a:p>
            <a:pPr lvl="0" indent="0" marL="0">
              <a:buNone/>
            </a:pPr>
          </a:p>
          <a:p>
            <a:pPr lvl="0"/>
            <a:r>
              <a:rPr/>
              <a:t>Affective: growth in feelings or emotional areas (attitude or self)</a:t>
            </a:r>
          </a:p>
          <a:p>
            <a:pPr lvl="0" indent="0" marL="0">
              <a:buNone/>
            </a:pPr>
          </a:p>
          <a:p>
            <a:pPr lvl="0"/>
            <a:r>
              <a:rPr/>
              <a:t>Psychomotor: manual or physical skills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pairs, design one assessment task for each learning objective (cognitive, affective, psychomotor). For each assessment, specify:</a:t>
            </a:r>
          </a:p>
          <a:p>
            <a:pPr lvl="0" indent="0" marL="0">
              <a:buNone/>
            </a:pPr>
          </a:p>
          <a:p>
            <a:pPr lvl="0"/>
            <a:r>
              <a:rPr/>
              <a:t>an appropriate assessment method (e.g., checklist, rubric)</a:t>
            </a:r>
          </a:p>
          <a:p>
            <a:pPr lvl="0" indent="0" marL="0">
              <a:buNone/>
            </a:pPr>
          </a:p>
          <a:p>
            <a:pPr lvl="0"/>
            <a:r>
              <a:rPr/>
              <a:t>at least one observable criterion that demonstrates successful achievement of the learning objective.</a:t>
            </a:r>
          </a:p>
          <a:p>
            <a:pPr lvl="0" indent="0" marL="0">
              <a:buNone/>
            </a:pPr>
          </a:p>
          <a:p>
            <a:pPr lvl="0" indent="0" marL="0">
              <a:buNone/>
            </a:pPr>
            <a:r>
              <a:rPr/>
              <a:t>Take 10 minutes for this activity.</a:t>
            </a:r>
          </a:p>
          <a:p>
            <a:pPr lvl="0" indent="0" marL="0">
              <a:buNone/>
            </a:pPr>
          </a:p>
          <a:p>
            <a:pPr lvl="0" indent="0" marL="0">
              <a:buNone/>
            </a:pPr>
            <a:r>
              <a:rPr i="1"/>
              <a:t>Write your ideas into the workbook</a:t>
            </a:r>
            <a:r>
              <a:rPr/>
              <a:t> to keep track of your thoughts.</a:t>
            </a:r>
          </a:p>
          <a:p>
            <a:pPr lvl="0" indent="0" marL="0">
              <a:buNone/>
            </a:pPr>
          </a:p>
          <a:p>
            <a:pPr lvl="0" indent="0" marL="0">
              <a:buNone/>
            </a:pPr>
            <a:r>
              <a:rPr b="1"/>
              <a:t>Instructor Notes</a:t>
            </a:r>
            <a:r>
              <a:rPr/>
              <a:t>: Example answer for cognitive domain:</a:t>
            </a:r>
          </a:p>
          <a:p>
            <a:pPr lvl="0" indent="0" marL="0">
              <a:buNone/>
            </a:pPr>
          </a:p>
          <a:p>
            <a:pPr lvl="0"/>
            <a:r>
              <a:rPr/>
              <a:t>Cognitive: Learners create a comparison brief analyzing at least two open access models (e.g., gold vs. green open access), including costs, accessibility, and author rights (assessment task). Use of examples and supporting arguments (metric). Scoring rubric with comparison depth, number or argument, quality (assessment tool)</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Your task is the following: </a:t>
            </a:r>
            <a:r>
              <a:rPr b="1"/>
              <a:t>Navigate</a:t>
            </a:r>
            <a:r>
              <a:rPr/>
              <a:t> to the following online tutorial: https://lmu-osc.github.io/introduction-to-zotero/. Then, </a:t>
            </a:r>
            <a:r>
              <a:rPr b="1"/>
              <a:t>skim over</a:t>
            </a:r>
            <a:r>
              <a:rPr/>
              <a:t> the different sections using the navigation menu or the arrows at the bottom of the page to get an idea of the content of the tutorial. Finally, using Bloom’s taxonomy, </a:t>
            </a:r>
            <a:r>
              <a:rPr b="1"/>
              <a:t>formulate</a:t>
            </a:r>
            <a:r>
              <a:rPr/>
              <a:t> three learning objectives and assessment methods that match the content and the teaching activities of the tutorial. Consider the following: Which level of Bloom’s taxonomy are you at and which domain are you targeting? Take 10 minutes for this activity-</a:t>
            </a:r>
          </a:p>
          <a:p>
            <a:pPr lvl="0" indent="0" marL="0">
              <a:buNone/>
            </a:pPr>
          </a:p>
          <a:p>
            <a:pPr lvl="0" indent="0" marL="0">
              <a:buNone/>
            </a:pPr>
            <a:r>
              <a:rPr b="1"/>
              <a:t>Instructor Notes</a:t>
            </a:r>
            <a:r>
              <a:rPr/>
              <a:t>: Possible solutions:</a:t>
            </a:r>
          </a:p>
          <a:p>
            <a:pPr lvl="0" indent="0" marL="0">
              <a:buNone/>
            </a:pPr>
          </a:p>
          <a:p>
            <a:pPr lvl="0"/>
            <a:r>
              <a:rPr/>
              <a:t>Learners can </a:t>
            </a:r>
            <a:r>
              <a:rPr b="1"/>
              <a:t>describe</a:t>
            </a:r>
            <a:r>
              <a:rPr/>
              <a:t> the purpose and key features of Zotero (e.g., organizing references, generating citations). Bloom’s level: Remember / Understand. Domain: Cognitive (knowledge &amp; comprehension). Assessment method: survey or multiple choice quiz.</a:t>
            </a:r>
          </a:p>
          <a:p>
            <a:pPr lvl="0" indent="0" marL="0">
              <a:buNone/>
            </a:pPr>
          </a:p>
          <a:p>
            <a:pPr lvl="0"/>
            <a:r>
              <a:rPr/>
              <a:t>Learners can </a:t>
            </a:r>
            <a:r>
              <a:rPr b="1"/>
              <a:t>apply</a:t>
            </a:r>
            <a:r>
              <a:rPr/>
              <a:t> Zotero to </a:t>
            </a:r>
            <a:r>
              <a:rPr b="1"/>
              <a:t>add and organize</a:t>
            </a:r>
            <a:r>
              <a:rPr/>
              <a:t> references in a library using tools like the Zotero Connector or manual entry. Bloom’s level: Apply Domain: Cognitive (procedural knowledge). Assessment method: Create a Zotero collection and add minimum three references via manual entry, submit screenshot.</a:t>
            </a:r>
          </a:p>
          <a:p>
            <a:pPr lvl="0" indent="0" marL="0">
              <a:buNone/>
            </a:pPr>
          </a:p>
          <a:p>
            <a:pPr lvl="0"/>
            <a:r>
              <a:rPr/>
              <a:t>Learners can </a:t>
            </a:r>
            <a:r>
              <a:rPr b="1"/>
              <a:t>create and evaluate</a:t>
            </a:r>
            <a:r>
              <a:rPr/>
              <a:t> a properly formatted bibliography using Zotero in a document. Bloom’s level: Analyze / Evaluate. Domain: Cognitive (higher-order thinking). Assessment method: Insert citations into a word document and create a bibliography. Hand in file.</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are you main take-home messages from today?</a:t>
            </a:r>
          </a:p>
          <a:p>
            <a:pPr lvl="0" indent="0" marL="0">
              <a:buNone/>
            </a:pPr>
          </a:p>
          <a:p>
            <a:pPr lvl="0"/>
            <a:r>
              <a:rPr/>
              <a:t>Learning is an active process shaped by context, prior knowledge, and beliefs—a core idea of constructivism.</a:t>
            </a:r>
          </a:p>
          <a:p>
            <a:pPr lvl="0" indent="0" marL="0">
              <a:buNone/>
            </a:pPr>
          </a:p>
          <a:p>
            <a:pPr lvl="0"/>
            <a:r>
              <a:rPr/>
              <a:t>Learners differ in how they organize prior knowledge. Experts typically have more connections between concepts, allowing them to recognize patterns and make connections more efficiently.</a:t>
            </a:r>
          </a:p>
          <a:p>
            <a:pPr lvl="0" indent="0" marL="0">
              <a:buNone/>
            </a:pPr>
          </a:p>
          <a:p>
            <a:pPr lvl="0"/>
            <a:r>
              <a:rPr/>
              <a:t>Effective learning depends on alignment between learning objectives, assessment, and teaching activities—known as constructive alignment.</a:t>
            </a:r>
          </a:p>
          <a:p>
            <a:pPr lvl="0" indent="0" marL="0">
              <a:buNone/>
            </a:pPr>
          </a:p>
          <a:p>
            <a:pPr lvl="0"/>
            <a:r>
              <a:rPr/>
              <a:t>Before teaching, we need to know where we are going. This means defining appropriate learning objectives across the relevant domains: cognitive, affective, and psychomotor.</a:t>
            </a:r>
          </a:p>
          <a:p>
            <a:pPr lvl="0" indent="0" marL="0">
              <a:buNone/>
            </a:pPr>
          </a:p>
          <a:p>
            <a:pPr lvl="0" indent="0" marL="0">
              <a:buNone/>
            </a:pPr>
            <a:r>
              <a:rPr b="1"/>
              <a:t>Instructor Notes</a:t>
            </a:r>
            <a:r>
              <a:rPr/>
              <a:t>: End lesson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Looking back at the learning objectives, this is what we achieved today. Great work! What are your questions?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13" name="Date Placeholder 12">
            <a:extLst>
              <a:ext uri="{FF2B5EF4-FFF2-40B4-BE49-F238E27FC236}">
                <a16:creationId xmlns:a16="http://schemas.microsoft.com/office/drawing/2014/main" id="{A98AF039-CAB9-D195-284D-DDC75DFBA39C}"/>
              </a:ext>
            </a:extLst>
          </p:cNvPr>
          <p:cNvSpPr>
            <a:spLocks noGrp="1"/>
          </p:cNvSpPr>
          <p:nvPr>
            <p:ph type="dt" sz="half" idx="10"/>
          </p:nvPr>
        </p:nvSpPr>
        <p:spPr/>
        <p:txBody>
          <a:bodyPr/>
          <a:lstStyle/>
          <a:p>
            <a:pPr algn="ctr"/>
            <a:r>
              <a:rPr lang="en-US"/>
              <a:t>DATE</a:t>
            </a:r>
            <a:endParaRPr lang="en-US" dirty="0"/>
          </a:p>
        </p:txBody>
      </p:sp>
      <p:sp>
        <p:nvSpPr>
          <p:cNvPr id="14" name="Footer Placeholder 13">
            <a:extLst>
              <a:ext uri="{FF2B5EF4-FFF2-40B4-BE49-F238E27FC236}">
                <a16:creationId xmlns:a16="http://schemas.microsoft.com/office/drawing/2014/main" id="{92325642-A61C-3078-0A08-00C186300EA9}"/>
              </a:ext>
            </a:extLst>
          </p:cNvPr>
          <p:cNvSpPr>
            <a:spLocks noGrp="1"/>
          </p:cNvSpPr>
          <p:nvPr>
            <p:ph type="ftr" sz="quarter" idx="11"/>
          </p:nvPr>
        </p:nvSpPr>
        <p:spPr/>
        <p:txBody>
          <a:bodyPr/>
          <a:lstStyle/>
          <a:p>
            <a:r>
              <a:rPr lang="en-US"/>
              <a:t>© LMU Open Science Center</a:t>
            </a:r>
            <a:endParaRPr lang="en-US" dirty="0"/>
          </a:p>
        </p:txBody>
      </p:sp>
      <p:sp>
        <p:nvSpPr>
          <p:cNvPr id="15" name="Slide Number Placeholder 14">
            <a:extLst>
              <a:ext uri="{FF2B5EF4-FFF2-40B4-BE49-F238E27FC236}">
                <a16:creationId xmlns:a16="http://schemas.microsoft.com/office/drawing/2014/main" id="{68E9BE78-1F37-C669-71F3-F3AC2F8BB49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95D47B-82BE-FA8D-B3D0-43C1EF89F98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1" name="Date Placeholder 10">
            <a:extLst>
              <a:ext uri="{FF2B5EF4-FFF2-40B4-BE49-F238E27FC236}">
                <a16:creationId xmlns:a16="http://schemas.microsoft.com/office/drawing/2014/main" id="{CE3B72D0-0A08-8401-1102-DC8B6D528889}"/>
              </a:ext>
            </a:extLst>
          </p:cNvPr>
          <p:cNvSpPr>
            <a:spLocks noGrp="1"/>
          </p:cNvSpPr>
          <p:nvPr>
            <p:ph type="dt" sz="half" idx="10"/>
          </p:nvPr>
        </p:nvSpPr>
        <p:spPr/>
        <p:txBody>
          <a:bodyPr/>
          <a:lstStyle/>
          <a:p>
            <a:pPr algn="ctr"/>
            <a:r>
              <a:rPr lang="en-US"/>
              <a:t>DATE</a:t>
            </a:r>
            <a:endParaRPr lang="en-US" dirty="0"/>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type="ftr" sz="quarter" idx="11"/>
          </p:nvPr>
        </p:nvSpPr>
        <p:spPr/>
        <p:txBody>
          <a:bodyPr/>
          <a:lstStyle/>
          <a:p>
            <a:r>
              <a:rPr lang="en-US"/>
              <a:t>© LMU Open Science Center</a:t>
            </a:r>
            <a:endParaRPr lang="en-US" dirty="0"/>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166963"/>
            <a:ext cx="10363200" cy="1362075"/>
          </a:xfrm>
        </p:spPr>
        <p:txBody>
          <a:bodyPr anchor="t"/>
          <a:lstStyle>
            <a:lvl1pPr algn="l">
              <a:defRPr sz="3733" b="1" cap="none"/>
            </a:lvl1pPr>
          </a:lstStyle>
          <a:p>
            <a:r>
              <a:rPr lang="en-US" dirty="0"/>
              <a:t>Click to edit master title style</a:t>
            </a:r>
          </a:p>
        </p:txBody>
      </p:sp>
      <p:sp>
        <p:nvSpPr>
          <p:cNvPr id="3" name="Text Placeholder 2"/>
          <p:cNvSpPr>
            <a:spLocks noGrp="1"/>
          </p:cNvSpPr>
          <p:nvPr>
            <p:ph type="body" idx="1"/>
          </p:nvPr>
        </p:nvSpPr>
        <p:spPr>
          <a:xfrm>
            <a:off x="963084" y="1611879"/>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64D8B8CE-DBC2-402F-F776-7642508B65A2}"/>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CA956807-87AD-1B61-6635-A4BD697312DD}"/>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A848E190-73C6-8A24-D8B9-FC7B080DD00D}"/>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A4B39B83-B2B9-A607-75FD-CC4196FDAB4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2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2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64C6C71-8D4C-B542-9542-DE3F868C8BC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DB9C105D-2DC4-B9F4-C1FE-2CAFAE38DB01}"/>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B6159A58-99BB-FD20-30B4-B65A749EE7DB}"/>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178081C7-8D63-717B-E81C-FB6B04A7D54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8" name="Date Placeholder 7">
            <a:extLst>
              <a:ext uri="{FF2B5EF4-FFF2-40B4-BE49-F238E27FC236}">
                <a16:creationId xmlns:a16="http://schemas.microsoft.com/office/drawing/2014/main" id="{58100809-C7AD-AA37-7E54-5E07B4142DB5}"/>
              </a:ext>
            </a:extLst>
          </p:cNvPr>
          <p:cNvSpPr>
            <a:spLocks noGrp="1"/>
          </p:cNvSpPr>
          <p:nvPr>
            <p:ph type="dt" sz="half" idx="10"/>
          </p:nvPr>
        </p:nvSpPr>
        <p:spPr/>
        <p:txBody>
          <a:bodyPr/>
          <a:lstStyle/>
          <a:p>
            <a:pPr algn="ctr"/>
            <a:r>
              <a:rPr lang="en-US"/>
              <a:t>DATE</a:t>
            </a:r>
            <a:endParaRPr lang="en-US" dirty="0"/>
          </a:p>
        </p:txBody>
      </p:sp>
      <p:sp>
        <p:nvSpPr>
          <p:cNvPr id="9" name="Footer Placeholder 8">
            <a:extLst>
              <a:ext uri="{FF2B5EF4-FFF2-40B4-BE49-F238E27FC236}">
                <a16:creationId xmlns:a16="http://schemas.microsoft.com/office/drawing/2014/main" id="{780EC85D-71EC-E3EF-4192-AAB31D7B0AC3}"/>
              </a:ext>
            </a:extLst>
          </p:cNvPr>
          <p:cNvSpPr>
            <a:spLocks noGrp="1"/>
          </p:cNvSpPr>
          <p:nvPr>
            <p:ph type="ftr" sz="quarter" idx="11"/>
          </p:nvPr>
        </p:nvSpPr>
        <p:spPr/>
        <p:txBody>
          <a:bodyPr/>
          <a:lstStyle/>
          <a:p>
            <a:r>
              <a:rPr lang="en-US"/>
              <a:t>© LMU Open Science Center</a:t>
            </a:r>
            <a:endParaRPr lang="en-US" dirty="0"/>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2">
            <a:extLst>
              <a:ext uri="{FF2B5EF4-FFF2-40B4-BE49-F238E27FC236}">
                <a16:creationId xmlns:a16="http://schemas.microsoft.com/office/drawing/2014/main" id="{BCEB6D96-52B9-49DF-A40F-D3028B8FC97F}"/>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4" name="Date Placeholder 3">
            <a:extLst>
              <a:ext uri="{FF2B5EF4-FFF2-40B4-BE49-F238E27FC236}">
                <a16:creationId xmlns:a16="http://schemas.microsoft.com/office/drawing/2014/main" id="{B77221D3-5266-DD6F-83AC-F0960F93CB40}"/>
              </a:ext>
            </a:extLst>
          </p:cNvPr>
          <p:cNvSpPr>
            <a:spLocks noGrp="1"/>
          </p:cNvSpPr>
          <p:nvPr>
            <p:ph type="dt" sz="half" idx="10"/>
          </p:nvPr>
        </p:nvSpPr>
        <p:spPr/>
        <p:txBody>
          <a:bodyPr/>
          <a:lstStyle/>
          <a:p>
            <a:pPr algn="ctr"/>
            <a:r>
              <a:rPr lang="en-US"/>
              <a:t>DATE</a:t>
            </a:r>
            <a:endParaRPr lang="en-US" dirty="0"/>
          </a:p>
        </p:txBody>
      </p:sp>
      <p:sp>
        <p:nvSpPr>
          <p:cNvPr id="5" name="Footer Placeholder 4">
            <a:extLst>
              <a:ext uri="{FF2B5EF4-FFF2-40B4-BE49-F238E27FC236}">
                <a16:creationId xmlns:a16="http://schemas.microsoft.com/office/drawing/2014/main" id="{DDEB8BF7-B98F-B2C1-BBC4-836DAD84D3E3}"/>
              </a:ext>
            </a:extLst>
          </p:cNvPr>
          <p:cNvSpPr>
            <a:spLocks noGrp="1"/>
          </p:cNvSpPr>
          <p:nvPr>
            <p:ph type="ftr" sz="quarter" idx="11"/>
          </p:nvPr>
        </p:nvSpPr>
        <p:spPr/>
        <p:txBody>
          <a:bodyPr/>
          <a:lstStyle/>
          <a:p>
            <a:r>
              <a:rPr lang="en-US"/>
              <a:t>© LMU Open Science Center</a:t>
            </a:r>
            <a:endParaRPr lang="en-US" dirty="0"/>
          </a:p>
        </p:txBody>
      </p:sp>
      <p:sp>
        <p:nvSpPr>
          <p:cNvPr id="9" name="Slide Number Placeholder 8">
            <a:extLst>
              <a:ext uri="{FF2B5EF4-FFF2-40B4-BE49-F238E27FC236}">
                <a16:creationId xmlns:a16="http://schemas.microsoft.com/office/drawing/2014/main" id="{65B4E053-B4BD-4273-20F1-F1F6E73ED32B}"/>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F01941-7737-2934-6952-CCA6B638ACA0}"/>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3" name="Date Placeholder 2">
            <a:extLst>
              <a:ext uri="{FF2B5EF4-FFF2-40B4-BE49-F238E27FC236}">
                <a16:creationId xmlns:a16="http://schemas.microsoft.com/office/drawing/2014/main" id="{A524AD1A-09DE-80F2-211E-50D2602CBB2F}"/>
              </a:ext>
            </a:extLst>
          </p:cNvPr>
          <p:cNvSpPr>
            <a:spLocks noGrp="1"/>
          </p:cNvSpPr>
          <p:nvPr>
            <p:ph type="dt" sz="half" idx="10"/>
          </p:nvPr>
        </p:nvSpPr>
        <p:spPr/>
        <p:txBody>
          <a:bodyPr/>
          <a:lstStyle/>
          <a:p>
            <a:pPr algn="ctr"/>
            <a:r>
              <a:rPr lang="en-US"/>
              <a:t>DATE</a:t>
            </a:r>
            <a:endParaRPr lang="en-US" dirty="0"/>
          </a:p>
        </p:txBody>
      </p:sp>
      <p:sp>
        <p:nvSpPr>
          <p:cNvPr id="4" name="Footer Placeholder 3">
            <a:extLst>
              <a:ext uri="{FF2B5EF4-FFF2-40B4-BE49-F238E27FC236}">
                <a16:creationId xmlns:a16="http://schemas.microsoft.com/office/drawing/2014/main" id="{C64D603C-1DE0-937A-1F64-CF31D2545F5B}"/>
              </a:ext>
            </a:extLst>
          </p:cNvPr>
          <p:cNvSpPr>
            <a:spLocks noGrp="1"/>
          </p:cNvSpPr>
          <p:nvPr>
            <p:ph type="ftr" sz="quarter" idx="11"/>
          </p:nvPr>
        </p:nvSpPr>
        <p:spPr/>
        <p:txBody>
          <a:bodyPr/>
          <a:lstStyle/>
          <a:p>
            <a:r>
              <a:rPr lang="en-US"/>
              <a:t>© LMU Open Science Center</a:t>
            </a:r>
            <a:endParaRPr lang="en-US" dirty="0"/>
          </a:p>
        </p:txBody>
      </p:sp>
      <p:sp>
        <p:nvSpPr>
          <p:cNvPr id="8" name="Slide Number Placeholder 7">
            <a:extLst>
              <a:ext uri="{FF2B5EF4-FFF2-40B4-BE49-F238E27FC236}">
                <a16:creationId xmlns:a16="http://schemas.microsoft.com/office/drawing/2014/main" id="{659CFA45-E807-CF9C-9148-21ED45D59DB5}"/>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200" b="1"/>
            </a:lvl1pPr>
          </a:lstStyle>
          <a:p>
            <a:r>
              <a:rPr lang="en-US" dirty="0"/>
              <a:t>Click to edit Master title style</a:t>
            </a:r>
          </a:p>
        </p:txBody>
      </p:sp>
      <p:sp>
        <p:nvSpPr>
          <p:cNvPr id="3" name="Content Placeholder 2"/>
          <p:cNvSpPr>
            <a:spLocks noGrp="1"/>
          </p:cNvSpPr>
          <p:nvPr>
            <p:ph idx="1"/>
          </p:nvPr>
        </p:nvSpPr>
        <p:spPr>
          <a:xfrm>
            <a:off x="4766733" y="1435100"/>
            <a:ext cx="6815667" cy="4691065"/>
          </a:xfrm>
        </p:spPr>
        <p:txBody>
          <a:bodyPr anchor="ctr"/>
          <a:lstStyle>
            <a:lvl1pPr>
              <a:defRPr sz="22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
        <p:nvSpPr>
          <p:cNvPr id="5" name="Rectangle 4">
            <a:extLst>
              <a:ext uri="{FF2B5EF4-FFF2-40B4-BE49-F238E27FC236}">
                <a16:creationId xmlns:a16="http://schemas.microsoft.com/office/drawing/2014/main" id="{2F13ACB6-AD35-166A-7095-CE78FB7C65DC}"/>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4D4823E0-4AC4-556E-D341-7EC0B24627F1}"/>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DA033808-7DA7-BCE5-7841-A080B9791E38}"/>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1D6DC9D-A966-EA21-E561-10535CC769C8}"/>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6" name="Date Placeholder 5">
            <a:extLst>
              <a:ext uri="{FF2B5EF4-FFF2-40B4-BE49-F238E27FC236}">
                <a16:creationId xmlns:a16="http://schemas.microsoft.com/office/drawing/2014/main" id="{BEDD9C9F-3905-36C7-15CB-BACF4406BE2F}"/>
              </a:ext>
            </a:extLst>
          </p:cNvPr>
          <p:cNvSpPr>
            <a:spLocks noGrp="1"/>
          </p:cNvSpPr>
          <p:nvPr>
            <p:ph type="dt" sz="half" idx="10"/>
          </p:nvPr>
        </p:nvSpPr>
        <p:spPr/>
        <p:txBody>
          <a:bodyPr/>
          <a:lstStyle/>
          <a:p>
            <a:pPr algn="ctr"/>
            <a:r>
              <a:rPr lang="en-US"/>
              <a:t>DATE</a:t>
            </a:r>
            <a:endParaRPr lang="en-US" dirty="0"/>
          </a:p>
        </p:txBody>
      </p:sp>
      <p:sp>
        <p:nvSpPr>
          <p:cNvPr id="7" name="Footer Placeholder 6">
            <a:extLst>
              <a:ext uri="{FF2B5EF4-FFF2-40B4-BE49-F238E27FC236}">
                <a16:creationId xmlns:a16="http://schemas.microsoft.com/office/drawing/2014/main" id="{FB50E993-3E74-7605-4B1C-089FC5994AF0}"/>
              </a:ext>
            </a:extLst>
          </p:cNvPr>
          <p:cNvSpPr>
            <a:spLocks noGrp="1"/>
          </p:cNvSpPr>
          <p:nvPr>
            <p:ph type="ftr" sz="quarter" idx="11"/>
          </p:nvPr>
        </p:nvSpPr>
        <p:spPr/>
        <p:txBody>
          <a:bodyPr/>
          <a:lstStyle/>
          <a:p>
            <a:r>
              <a:rPr lang="en-US"/>
              <a:t>© LMU Open Science Center</a:t>
            </a:r>
            <a:endParaRPr lang="en-US" dirty="0"/>
          </a:p>
        </p:txBody>
      </p:sp>
      <p:sp>
        <p:nvSpPr>
          <p:cNvPr id="11" name="Slide Number Placeholder 10">
            <a:extLst>
              <a:ext uri="{FF2B5EF4-FFF2-40B4-BE49-F238E27FC236}">
                <a16:creationId xmlns:a16="http://schemas.microsoft.com/office/drawing/2014/main" id="{AA2A021D-E01D-7241-598C-56E146616C09}"/>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8AB907D2-6A5F-9B5B-F5B4-C4FEA6389021}"/>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D2DF6E15-AA63-3763-7F86-DACADBA35FC9}"/>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2FD9BD05-D78E-3984-8BF6-5DC5BAB2C98D}"/>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84583088-CCF2-B670-1C52-71D2A0DA5FBC}"/>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304BE907-8A33-EAC8-E40E-042F62D8A32D}"/>
              </a:ext>
            </a:extLst>
          </p:cNvPr>
          <p:cNvSpPr/>
          <p:nvPr userDrawn="1"/>
        </p:nvSpPr>
        <p:spPr>
          <a:xfrm>
            <a:off x="11988800" y="0"/>
            <a:ext cx="203200" cy="6858000"/>
          </a:xfrm>
          <a:prstGeom prst="rect">
            <a:avLst/>
          </a:prstGeom>
          <a:solidFill>
            <a:srgbClr val="008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5" name="Date Placeholder 4">
            <a:extLst>
              <a:ext uri="{FF2B5EF4-FFF2-40B4-BE49-F238E27FC236}">
                <a16:creationId xmlns:a16="http://schemas.microsoft.com/office/drawing/2014/main" id="{5BF45B85-27C4-5A2F-EC81-52FBC9699338}"/>
              </a:ext>
            </a:extLst>
          </p:cNvPr>
          <p:cNvSpPr>
            <a:spLocks noGrp="1"/>
          </p:cNvSpPr>
          <p:nvPr>
            <p:ph type="dt" sz="half" idx="10"/>
          </p:nvPr>
        </p:nvSpPr>
        <p:spPr/>
        <p:txBody>
          <a:bodyPr/>
          <a:lstStyle/>
          <a:p>
            <a:pPr algn="ctr"/>
            <a:r>
              <a:rPr lang="en-US"/>
              <a:t>DATE</a:t>
            </a:r>
            <a:endParaRPr lang="en-US" dirty="0"/>
          </a:p>
        </p:txBody>
      </p:sp>
      <p:sp>
        <p:nvSpPr>
          <p:cNvPr id="6" name="Footer Placeholder 5">
            <a:extLst>
              <a:ext uri="{FF2B5EF4-FFF2-40B4-BE49-F238E27FC236}">
                <a16:creationId xmlns:a16="http://schemas.microsoft.com/office/drawing/2014/main" id="{8F83EC60-CE7B-06F0-476B-80CB9CE1F2F7}"/>
              </a:ext>
            </a:extLst>
          </p:cNvPr>
          <p:cNvSpPr>
            <a:spLocks noGrp="1"/>
          </p:cNvSpPr>
          <p:nvPr>
            <p:ph type="ftr" sz="quarter" idx="11"/>
          </p:nvPr>
        </p:nvSpPr>
        <p:spPr/>
        <p:txBody>
          <a:bodyPr/>
          <a:lstStyle/>
          <a:p>
            <a:r>
              <a:rPr lang="en-US"/>
              <a:t>© LMU Open Science Center</a:t>
            </a:r>
            <a:endParaRPr lang="en-US" dirty="0"/>
          </a:p>
        </p:txBody>
      </p:sp>
      <p:sp>
        <p:nvSpPr>
          <p:cNvPr id="10" name="Slide Number Placeholder 9">
            <a:extLst>
              <a:ext uri="{FF2B5EF4-FFF2-40B4-BE49-F238E27FC236}">
                <a16:creationId xmlns:a16="http://schemas.microsoft.com/office/drawing/2014/main" id="{8A9AB982-9F02-36B3-80ED-6CFB05C7536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sv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84148"/>
            <a:ext cx="10972800" cy="1143000"/>
          </a:xfrm>
          <a:prstGeom prst="rect">
            <a:avLst/>
          </a:prstGeom>
        </p:spPr>
        <p:txBody>
          <a:bodyPr anchor="b"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609600" y="1600201"/>
            <a:ext cx="10972800" cy="4525963"/>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2660973" y="6365491"/>
            <a:ext cx="1818468" cy="298452"/>
          </a:xfrm>
          <a:prstGeom prst="rect">
            <a:avLst/>
          </a:prstGeom>
        </p:spPr>
        <p:txBody>
          <a:bodyPr anchor="ctr" bIns="45720" lIns="91440" rIns="91440" rtlCol="0" tIns="45720" vert="horz"/>
          <a:lstStyle>
            <a:lvl1pPr algn="l">
              <a:defRPr sz="1200">
                <a:solidFill>
                  <a:schemeClr val="tx1">
                    <a:tint val="75000"/>
                  </a:schemeClr>
                </a:solidFill>
              </a:defRPr>
            </a:lvl1pPr>
          </a:lstStyle>
          <a:p>
            <a:pPr algn="ctr"/>
            <a:r>
              <a:rPr lang="en-US"/>
              <a:t>DATE</a:t>
            </a:r>
            <a:endParaRPr dirty="0" lang="en-US"/>
          </a:p>
        </p:txBody>
      </p:sp>
      <p:sp>
        <p:nvSpPr>
          <p:cNvPr id="5" name="Footer Placeholder 4"/>
          <p:cNvSpPr>
            <a:spLocks noGrp="1"/>
          </p:cNvSpPr>
          <p:nvPr>
            <p:ph idx="3" sz="quarter" type="ftr"/>
          </p:nvPr>
        </p:nvSpPr>
        <p:spPr>
          <a:xfrm>
            <a:off x="4722678" y="6365489"/>
            <a:ext cx="2746644" cy="298452"/>
          </a:xfrm>
          <a:prstGeom prst="rect">
            <a:avLst/>
          </a:prstGeom>
        </p:spPr>
        <p:txBody>
          <a:bodyPr anchor="ctr" bIns="45720" lIns="91440" rIns="91440" rtlCol="0" tIns="45720" vert="horz"/>
          <a:lstStyle>
            <a:lvl1pPr algn="ctr">
              <a:defRPr sz="1200">
                <a:solidFill>
                  <a:schemeClr val="tx1">
                    <a:tint val="75000"/>
                  </a:schemeClr>
                </a:solidFill>
              </a:defRPr>
            </a:lvl1pPr>
          </a:lstStyle>
          <a:p>
            <a:r>
              <a:rPr dirty="0" lang="en-US"/>
              <a:t>© LMU Open Science Center</a:t>
            </a:r>
          </a:p>
        </p:txBody>
      </p:sp>
      <p:sp>
        <p:nvSpPr>
          <p:cNvPr id="6" name="Slide Number Placeholder 5"/>
          <p:cNvSpPr>
            <a:spLocks noGrp="1"/>
          </p:cNvSpPr>
          <p:nvPr>
            <p:ph idx="4" sz="quarter" type="sldNum"/>
          </p:nvPr>
        </p:nvSpPr>
        <p:spPr>
          <a:xfrm>
            <a:off x="9763932" y="6365488"/>
            <a:ext cx="1818468" cy="298453"/>
          </a:xfrm>
          <a:prstGeom prst="rect">
            <a:avLst/>
          </a:prstGeom>
        </p:spPr>
        <p:txBody>
          <a:bodyPr anchor="ctr" bIns="45720" lIns="91440" rIns="91440" rtlCol="0" tIns="45720" vert="horz"/>
          <a:lstStyle>
            <a:lvl1pPr algn="r">
              <a:defRPr sz="1200">
                <a:solidFill>
                  <a:schemeClr val="tx1">
                    <a:tint val="75000"/>
                  </a:schemeClr>
                </a:solidFill>
              </a:defRPr>
            </a:lvl1pPr>
          </a:lstStyle>
          <a:p>
            <a:fld id="{C5EF2332-01BF-834F-8236-50238282D533}" type="slidenum">
              <a:rPr lang="en-US" smtClean="0"/>
              <a:pPr/>
              <a:t>‹#›</a:t>
            </a:fld>
            <a:endParaRPr dirty="0" lang="en-US"/>
          </a:p>
        </p:txBody>
      </p:sp>
      <p:pic>
        <p:nvPicPr>
          <p:cNvPr id="7" name="Graphic 6">
            <a:extLst>
              <a:ext uri="{FF2B5EF4-FFF2-40B4-BE49-F238E27FC236}">
                <a16:creationId xmlns:a16="http://schemas.microsoft.com/office/drawing/2014/main" id="{30C9838F-E9D5-154A-4897-DCE30A8465B5}"/>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03200" y="6300320"/>
            <a:ext cx="1143429" cy="428785"/>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189" eaLnBrk="1" hangingPunct="1" latinLnBrk="0" rtl="0">
        <a:spcBef>
          <a:spcPct val="0"/>
        </a:spcBef>
        <a:buNone/>
        <a:defRPr b="1" i="0" kern="1200" sz="3200">
          <a:solidFill>
            <a:schemeClr val="tx1"/>
          </a:solidFill>
          <a:latin charset="0" panose="020B0004020202020204" pitchFamily="34" typeface="Aptos ExtraBold"/>
          <a:ea charset="0" panose="020B0604030504040204" pitchFamily="34" typeface="Verdana"/>
          <a:cs charset="0" panose="020B0604030504040204" pitchFamily="34" typeface="Verdana"/>
        </a:defRPr>
      </a:lvl1pPr>
    </p:titleStyle>
    <p:bodyStyle>
      <a:lvl1pPr algn="l" defTabSz="457189" eaLnBrk="1" hangingPunct="1" indent="-457189" latinLnBrk="0" marL="457189" rtl="0">
        <a:spcBef>
          <a:spcPct val="20000"/>
        </a:spcBef>
        <a:buFont charset="0" panose="020B0604020202020204" pitchFamily="34" typeface="Arial"/>
        <a:buChar char="•"/>
        <a:defRPr b="0" i="0" kern="1200" sz="2200">
          <a:solidFill>
            <a:schemeClr val="tx1"/>
          </a:solidFill>
          <a:latin charset="0" panose="020B0004020202020204" pitchFamily="34" typeface="Aptos"/>
          <a:ea charset="0" panose="020B0604030504040204" pitchFamily="34" typeface="Verdana"/>
          <a:cs charset="0" panose="020B0604030504040204" pitchFamily="34" typeface="Verdana"/>
        </a:defRPr>
      </a:lvl1pPr>
      <a:lvl2pPr algn="l" defTabSz="457189" eaLnBrk="1" hangingPunct="1" indent="-461422" latinLnBrk="0" marL="768331" rtl="0">
        <a:spcBef>
          <a:spcPct val="20000"/>
        </a:spcBef>
        <a:buFont charset="2" pitchFamily="2" typeface="Wingdings"/>
        <a:buChar char="§"/>
        <a:tabLst/>
        <a:defRPr b="0" i="0" kern="1200" sz="2000">
          <a:solidFill>
            <a:schemeClr val="tx1"/>
          </a:solidFill>
          <a:latin charset="0" panose="020B0004020202020204" pitchFamily="34" typeface="Aptos"/>
          <a:ea charset="0" panose="020B0604030504040204" pitchFamily="34" typeface="Verdana"/>
          <a:cs charset="0" panose="020B0604030504040204" pitchFamily="34" typeface="Verdana"/>
        </a:defRPr>
      </a:lvl2pPr>
      <a:lvl3pPr algn="l" defTabSz="457189" eaLnBrk="1" hangingPunct="1" indent="-452955" latinLnBrk="0" marL="1149322" rtl="0">
        <a:spcBef>
          <a:spcPct val="20000"/>
        </a:spcBef>
        <a:buFont charset="0" panose="02070309020205020404" pitchFamily="49" typeface="Courier New"/>
        <a:buChar char="o"/>
        <a:tabLst/>
        <a:defRPr b="0" i="0" kern="1200" sz="1800">
          <a:solidFill>
            <a:schemeClr val="tx1"/>
          </a:solidFill>
          <a:latin charset="0" panose="020B0004020202020204" pitchFamily="34" typeface="Aptos"/>
          <a:ea charset="0" panose="020B0604030504040204" pitchFamily="34" typeface="Verdana"/>
          <a:cs charset="0" panose="020B0604030504040204" pitchFamily="34" typeface="Verdana"/>
        </a:defRPr>
      </a:lvl3pPr>
      <a:lvl4pPr algn="l" defTabSz="457189" eaLnBrk="1" hangingPunct="1" indent="-461422" latinLnBrk="0" marL="1600160" rtl="0">
        <a:spcBef>
          <a:spcPct val="20000"/>
        </a:spcBef>
        <a:buFont typeface="Arial"/>
        <a:buChar char="–"/>
        <a:tabLst/>
        <a:defRPr b="0" i="0" kern="1200" sz="1600">
          <a:solidFill>
            <a:schemeClr val="tx1"/>
          </a:solidFill>
          <a:latin charset="0" panose="020B0004020202020204" pitchFamily="34" typeface="Aptos"/>
          <a:ea charset="0" panose="020B0604030504040204" pitchFamily="34" typeface="Verdana"/>
          <a:cs charset="0" panose="020B0604030504040204" pitchFamily="34" typeface="Verdana"/>
        </a:defRPr>
      </a:lvl4pPr>
      <a:lvl5pPr algn="l" defTabSz="457189" eaLnBrk="1" hangingPunct="1" indent="-450839" latinLnBrk="0" marL="1989617" rtl="0">
        <a:spcBef>
          <a:spcPct val="20000"/>
        </a:spcBef>
        <a:buFont typeface="Arial"/>
        <a:buChar char="»"/>
        <a:tabLst/>
        <a:defRPr b="0" i="0" kern="1200" sz="1600">
          <a:solidFill>
            <a:schemeClr val="tx1">
              <a:lumMod val="65000"/>
              <a:lumOff val="35000"/>
            </a:schemeClr>
          </a:solidFill>
          <a:latin charset="0" panose="020B0004020202020204" pitchFamily="34" typeface="Aptos"/>
          <a:ea charset="0" panose="020B0604030504040204" pitchFamily="34" typeface="Verdana"/>
          <a:cs charset="0" panose="020B0604030504040204" pitchFamily="34" typeface="Verdana"/>
        </a:defRPr>
      </a:lvl5pPr>
      <a:lvl6pPr algn="l" defTabSz="457189" eaLnBrk="1" hangingPunct="1" indent="-457189" latinLnBrk="0" marL="2743131" rtl="0">
        <a:spcBef>
          <a:spcPct val="20000"/>
        </a:spcBef>
        <a:buFont typeface="Arial"/>
        <a:buChar char="•"/>
        <a:defRPr kern="1200" sz="2000">
          <a:solidFill>
            <a:schemeClr val="tx1"/>
          </a:solidFill>
          <a:latin typeface="+mn-lt"/>
          <a:ea typeface="+mn-ea"/>
          <a:cs typeface="+mn-cs"/>
        </a:defRPr>
      </a:lvl6pPr>
      <a:lvl7pPr algn="l" defTabSz="457189" eaLnBrk="1" hangingPunct="1" indent="-457189" latinLnBrk="0" marL="3200320" rtl="0">
        <a:spcBef>
          <a:spcPct val="20000"/>
        </a:spcBef>
        <a:buFont typeface="Arial"/>
        <a:buChar char="•"/>
        <a:defRPr kern="1200" sz="2000">
          <a:solidFill>
            <a:schemeClr val="tx1"/>
          </a:solidFill>
          <a:latin typeface="+mn-lt"/>
          <a:ea typeface="+mn-ea"/>
          <a:cs typeface="+mn-cs"/>
        </a:defRPr>
      </a:lvl7pPr>
      <a:lvl8pPr algn="l" defTabSz="457189" eaLnBrk="1" hangingPunct="1" indent="-457189" latinLnBrk="0" marL="3657509" rtl="0">
        <a:spcBef>
          <a:spcPct val="20000"/>
        </a:spcBef>
        <a:buFont typeface="Arial"/>
        <a:buChar char="•"/>
        <a:defRPr kern="1200" sz="2000">
          <a:solidFill>
            <a:schemeClr val="tx1"/>
          </a:solidFill>
          <a:latin typeface="+mn-lt"/>
          <a:ea typeface="+mn-ea"/>
          <a:cs typeface="+mn-cs"/>
        </a:defRPr>
      </a:lvl8pPr>
      <a:lvl9pPr algn="l" defTabSz="457189" eaLnBrk="1" hangingPunct="1" indent="-457189" latinLnBrk="0" marL="4114697" rtl="0">
        <a:spcBef>
          <a:spcPct val="20000"/>
        </a:spcBef>
        <a:buFont typeface="Arial"/>
        <a:buChar char="•"/>
        <a:defRPr kern="1200" sz="2000">
          <a:solidFill>
            <a:schemeClr val="tx1"/>
          </a:solidFill>
          <a:latin typeface="+mn-lt"/>
          <a:ea typeface="+mn-ea"/>
          <a:cs typeface="+mn-cs"/>
        </a:defRPr>
      </a:lvl9pPr>
    </p:bodyStyle>
    <p:otherStyle>
      <a:defPPr>
        <a:defRPr lang="en-US"/>
      </a:defPPr>
      <a:lvl1pPr algn="l" defTabSz="457189" eaLnBrk="1" hangingPunct="1" latinLnBrk="0" marL="0" rtl="0">
        <a:defRPr kern="1200" sz="1800">
          <a:solidFill>
            <a:schemeClr val="tx1"/>
          </a:solidFill>
          <a:latin typeface="+mn-lt"/>
          <a:ea typeface="+mn-ea"/>
          <a:cs typeface="+mn-cs"/>
        </a:defRPr>
      </a:lvl1pPr>
      <a:lvl2pPr algn="l" defTabSz="457189" eaLnBrk="1" hangingPunct="1" latinLnBrk="0" marL="457189" rtl="0">
        <a:defRPr kern="1200" sz="1800">
          <a:solidFill>
            <a:schemeClr val="tx1"/>
          </a:solidFill>
          <a:latin typeface="+mn-lt"/>
          <a:ea typeface="+mn-ea"/>
          <a:cs typeface="+mn-cs"/>
        </a:defRPr>
      </a:lvl2pPr>
      <a:lvl3pPr algn="l" defTabSz="457189" eaLnBrk="1" hangingPunct="1" latinLnBrk="0" marL="914377" rtl="0">
        <a:defRPr kern="1200" sz="1800">
          <a:solidFill>
            <a:schemeClr val="tx1"/>
          </a:solidFill>
          <a:latin typeface="+mn-lt"/>
          <a:ea typeface="+mn-ea"/>
          <a:cs typeface="+mn-cs"/>
        </a:defRPr>
      </a:lvl3pPr>
      <a:lvl4pPr algn="l" defTabSz="457189" eaLnBrk="1" hangingPunct="1" latinLnBrk="0" marL="1371566" rtl="0">
        <a:defRPr kern="1200" sz="1800">
          <a:solidFill>
            <a:schemeClr val="tx1"/>
          </a:solidFill>
          <a:latin typeface="+mn-lt"/>
          <a:ea typeface="+mn-ea"/>
          <a:cs typeface="+mn-cs"/>
        </a:defRPr>
      </a:lvl4pPr>
      <a:lvl5pPr algn="l" defTabSz="457189" eaLnBrk="1" hangingPunct="1" latinLnBrk="0" marL="1828754" rtl="0">
        <a:defRPr kern="1200" sz="1800">
          <a:solidFill>
            <a:schemeClr val="tx1"/>
          </a:solidFill>
          <a:latin typeface="+mn-lt"/>
          <a:ea typeface="+mn-ea"/>
          <a:cs typeface="+mn-cs"/>
        </a:defRPr>
      </a:lvl5pPr>
      <a:lvl6pPr algn="l" defTabSz="457189" eaLnBrk="1" hangingPunct="1" latinLnBrk="0" marL="2285943" rtl="0">
        <a:defRPr kern="1200" sz="1800">
          <a:solidFill>
            <a:schemeClr val="tx1"/>
          </a:solidFill>
          <a:latin typeface="+mn-lt"/>
          <a:ea typeface="+mn-ea"/>
          <a:cs typeface="+mn-cs"/>
        </a:defRPr>
      </a:lvl6pPr>
      <a:lvl7pPr algn="l" defTabSz="457189" eaLnBrk="1" hangingPunct="1" latinLnBrk="0" marL="2743131" rtl="0">
        <a:defRPr kern="1200" sz="1800">
          <a:solidFill>
            <a:schemeClr val="tx1"/>
          </a:solidFill>
          <a:latin typeface="+mn-lt"/>
          <a:ea typeface="+mn-ea"/>
          <a:cs typeface="+mn-cs"/>
        </a:defRPr>
      </a:lvl7pPr>
      <a:lvl8pPr algn="l" defTabSz="457189" eaLnBrk="1" hangingPunct="1" latinLnBrk="0" marL="3200320" rtl="0">
        <a:defRPr kern="1200" sz="1800">
          <a:solidFill>
            <a:schemeClr val="tx1"/>
          </a:solidFill>
          <a:latin typeface="+mn-lt"/>
          <a:ea typeface="+mn-ea"/>
          <a:cs typeface="+mn-cs"/>
        </a:defRPr>
      </a:lvl8pPr>
      <a:lvl9pPr algn="l" defTabSz="457189" eaLnBrk="1" hangingPunct="1" latinLnBrk="0" marL="3657509"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2" userDrawn="1">
          <p15:clr>
            <a:srgbClr val="F26B43"/>
          </p15:clr>
        </p15:guide>
        <p15:guide id="2" pos="128" userDrawn="1">
          <p15:clr>
            <a:srgbClr val="F26B43"/>
          </p15:clr>
        </p15:guide>
        <p15:guide id="3" orient="horz" pos="4208" userDrawn="1">
          <p15:clr>
            <a:srgbClr val="F26B43"/>
          </p15:clr>
        </p15:guide>
        <p15:guide id="4" pos="7552" userDrawn="1">
          <p15:clr>
            <a:srgbClr val="F26B43"/>
          </p15:clr>
        </p15:guide>
        <p15:guide id="5"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mu-osc.github.io/training/self-learning.html"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xml" /><Relationship Id="rId3"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 Id="rId3" Type="http://schemas.openxmlformats.org/officeDocument/2006/relationships/image" Target="../media/image6.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1.xml" /><Relationship Id="rId3" Type="http://schemas.openxmlformats.org/officeDocument/2006/relationships/image" Target="../media/image7.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3" Type="http://schemas.openxmlformats.org/officeDocument/2006/relationships/image" Target="../media/image8.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8.xml" /><Relationship Id="rId4" Type="http://schemas.openxmlformats.org/officeDocument/2006/relationships/image" Target="../media/image10.png" /><Relationship Id="rId3" Type="http://schemas.openxmlformats.org/officeDocument/2006/relationships/image" Target="../media/image9.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1.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2.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5.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xml" /><Relationship Id="rId3" Type="http://schemas.openxmlformats.org/officeDocument/2006/relationships/image" Target="../media/image13.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14.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9.xml" /><Relationship Id="rId3" Type="http://schemas.openxmlformats.org/officeDocument/2006/relationships/image" Target="../media/image15.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0.xml" /><Relationship Id="rId3" Type="http://schemas.openxmlformats.org/officeDocument/2006/relationships/image" Target="../media/image16.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1.xml" /><Relationship Id="rId3" Type="http://schemas.openxmlformats.org/officeDocument/2006/relationships/image" Target="../media/image17.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18.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7.xml" /><Relationship Id="rId3" Type="http://schemas.openxmlformats.org/officeDocument/2006/relationships/image" Target="../media/image19.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9.xml" /><Relationship Id="rId3" Type="http://schemas.openxmlformats.org/officeDocument/2006/relationships/image" Target="../media/image20.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1.xml" /><Relationship Id="rId3" Type="http://schemas.openxmlformats.org/officeDocument/2006/relationships/image" Target="../media/image21.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hyperlink" Target="https://lmu-osc.github.io/introduction-to-zotero/" TargetMode="Externa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07/BF00138871" TargetMode="External" /><Relationship Id="rId3" Type="http://schemas.openxmlformats.org/officeDocument/2006/relationships/hyperlink" Target="https://doi.org/10.18845/rc.v29i1-2020.5258" TargetMode="External" /><Relationship Id="rId4" Type="http://schemas.openxmlformats.org/officeDocument/2006/relationships/hyperlink" Target="https://doi.org/10.1016/j.lindif.2021.102015" TargetMode="Externa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6413-3895" TargetMode="External" /><Relationship Id="rId3" Type="http://schemas.openxmlformats.org/officeDocument/2006/relationships/hyperlink" Target="https://orcid.org/0000-0001-5307-8029" TargetMode="External" /><Relationship Id="rId4" Type="http://schemas.openxmlformats.org/officeDocument/2006/relationships/hyperlink" Target="https://orcid.org/0000-0002-8282-3910" TargetMode="External" /><Relationship Id="rId5" Type="http://schemas.openxmlformats.org/officeDocument/2006/relationships/hyperlink" Target="https://orcid.org/0000-0002-3242-5981" TargetMode="Externa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 Id="rId3" Type="http://schemas.openxmlformats.org/officeDocument/2006/relationships/hyperlink" Target="https://creativecommons.org/licenses/by-sa/4.0/deed.en" TargetMode="External" /><Relationship Id="rId4" Type="http://schemas.openxmlformats.org/officeDocument/2006/relationships/hyperlink" Target="https://lmu-osc.github.io/train-the-trainer-open-research/teaching-open-research/core-didactic-principle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lvl="0" indent="0" marL="0">
              <a:buNone/>
            </a:pPr>
            <a:r>
              <a:rPr/>
              <a:t>Core didactic principles for teaching Open Research</a:t>
            </a:r>
          </a:p>
        </p:txBody>
      </p:sp>
      <p:sp>
        <p:nvSpPr>
          <p:cNvPr id="3" name="Subtitle 2"/>
          <p:cNvSpPr>
            <a:spLocks noGrp="1"/>
          </p:cNvSpPr>
          <p:nvPr>
            <p:ph idx="1" type="subTitle"/>
          </p:nvPr>
        </p:nvSpPr>
        <p:spPr>
          <a:xfrm>
            <a:off x="1828800" y="3886200"/>
            <a:ext cx="8534400" cy="1752600"/>
          </a:xfrm>
        </p:spPr>
        <p:txBody>
          <a:bodyPr/>
          <a:lstStyle/>
          <a:p>
            <a:pPr lvl="0" indent="0" marL="0">
              <a:buNone/>
            </a:pPr>
            <a:r>
              <a:rPr/>
              <a:t>Sarah von Grebmer zu Wolfsthurn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3657600"/>
                <a:gridCol w="3657600"/>
                <a:gridCol w="36576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Where to find this</a:t>
                      </a:r>
                    </a:p>
                  </a:txBody>
                  <a:tcPr/>
                </a:tc>
              </a:tr>
              <a:tr h="0">
                <a:tc>
                  <a:txBody>
                    <a:bodyPr/>
                    <a:lstStyle/>
                    <a:p>
                      <a:pPr lvl="0" indent="0" marL="0">
                        <a:buNone/>
                      </a:pPr>
                      <a:r>
                        <a:rPr/>
                        <a:t>Familiarity with Open Research concepts and practices</a:t>
                      </a:r>
                    </a:p>
                  </a:txBody>
                </a:tc>
                <a:tc>
                  <a:txBody>
                    <a:bodyPr/>
                    <a:lstStyle/>
                    <a:p>
                      <a:pPr lvl="0" indent="0" marL="0">
                        <a:buNone/>
                      </a:pPr>
                      <a:r>
                        <a:rPr/>
                        <a:t>Examples: Replication crisis, open access, R, version control, preregistration, etc.</a:t>
                      </a:r>
                    </a:p>
                  </a:txBody>
                </a:tc>
                <a:tc>
                  <a:txBody>
                    <a:bodyPr/>
                    <a:lstStyle/>
                    <a:p>
                      <a:pPr lvl="0" indent="0" marL="0">
                        <a:buNone/>
                      </a:pPr>
                      <a:r>
                        <a:rPr>
                          <a:hlinkClick r:id="rId2"/>
                        </a:rPr>
                        <a:t>Click here to get familiar with Open Research first</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session, please carefully read about the prerequisites.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started!</a:t>
            </a:r>
          </a:p>
        </p:txBody>
      </p:sp>
      <p:sp>
        <p:nvSpPr>
          <p:cNvPr id="5" name="Text Placeholder 4"/>
          <p:cNvSpPr>
            <a:spLocks noGrp="1"/>
          </p:cNvSpPr>
          <p:nvPr>
            <p:ph idx="3" sz="quarter" type="body"/>
          </p:nvPr>
        </p:nvSpPr>
        <p:spPr/>
        <p:txBody>
          <a:bodyPr/>
          <a:lstStyle/>
          <a:p>
            <a:pPr lvl="0" indent="0" marL="0">
              <a:buNone/>
            </a:pPr>
            <a:r>
              <a:rPr/>
              <a:t>   </a:t>
            </a:r>
          </a:p>
        </p:txBody>
      </p:sp>
      <p:pic>
        <p:nvPicPr>
          <p:cNvPr descr="images/getting-started.png" id="0" name="Picture 1"/>
          <p:cNvPicPr>
            <a:picLocks noGrp="1" noChangeAspect="1"/>
          </p:cNvPicPr>
          <p:nvPr/>
        </p:nvPicPr>
        <p:blipFill>
          <a:blip r:embed="rId2"/>
          <a:stretch>
            <a:fillRect/>
          </a:stretch>
        </p:blipFill>
        <p:spPr bwMode="auto">
          <a:xfrm>
            <a:off x="6908800" y="2171700"/>
            <a:ext cx="3949700" cy="3949700"/>
          </a:xfrm>
          <a:prstGeom prst="rect">
            <a:avLst/>
          </a:prstGeom>
          <a:noFill/>
          <a:ln w="9525">
            <a:noFill/>
            <a:headEnd/>
            <a:tailEnd/>
          </a:ln>
        </p:spPr>
      </p:pic>
      <p:sp>
        <p:nvSpPr>
          <p:cNvPr id="8" name="Date Placeholder 7">
            <a:extLst>
              <a:ext uri="{FF2B5EF4-FFF2-40B4-BE49-F238E27FC236}">
                <a16:creationId xmlns:a16="http://schemas.microsoft.com/office/drawing/2014/main" id="{58100809-C7AD-AA37-7E54-5E07B4142DB5}"/>
              </a:ext>
            </a:extLst>
          </p:cNvPr>
          <p:cNvSpPr>
            <a:spLocks noGrp="1"/>
          </p:cNvSpPr>
          <p:nvPr>
            <p:ph idx="10" sz="half" type="dt"/>
          </p:nvPr>
        </p:nvSpPr>
        <p:spPr/>
        <p:txBody>
          <a:bodyPr/>
          <a:lstStyle/>
          <a:p>
            <a:pPr algn="ctr"/>
            <a:r>
              <a:rPr lang="en-US"/>
              <a:t>19/10/2026</a:t>
            </a:r>
            <a:endParaRPr dirty="0" lang="en-US"/>
          </a:p>
        </p:txBody>
      </p:sp>
      <p:sp>
        <p:nvSpPr>
          <p:cNvPr id="9" name="Footer Placeholder 8">
            <a:extLst>
              <a:ext uri="{FF2B5EF4-FFF2-40B4-BE49-F238E27FC236}">
                <a16:creationId xmlns:a16="http://schemas.microsoft.com/office/drawing/2014/main" id="{780EC85D-71EC-E3EF-4192-AAB31D7B0AC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much teaching experience do you have?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Workshops, peer training, (guest) lectures, seminars, lab presentations etc. on </a:t>
            </a:r>
            <a:r>
              <a:rPr b="1"/>
              <a:t>open research</a:t>
            </a:r>
            <a:r>
              <a:rPr/>
              <a:t> topics</a:t>
            </a:r>
          </a:p>
        </p:txBody>
      </p:sp>
      <p:pic>
        <p:nvPicPr>
          <p:cNvPr descr="images/experience-spectrum.png" id="0" name="Picture 1"/>
          <p:cNvPicPr>
            <a:picLocks noGrp="1" noChangeAspect="1"/>
          </p:cNvPicPr>
          <p:nvPr/>
        </p:nvPicPr>
        <p:blipFill>
          <a:blip r:embed="rId3"/>
          <a:stretch>
            <a:fillRect/>
          </a:stretch>
        </p:blipFill>
        <p:spPr bwMode="auto">
          <a:xfrm>
            <a:off x="6197600" y="3302000"/>
            <a:ext cx="5384800" cy="11049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much have you already thought about didactics?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If and when you teach about open research, do you or would you consider </a:t>
            </a:r>
            <a:r>
              <a:rPr b="1"/>
              <a:t>didactic elements</a:t>
            </a:r>
            <a:r>
              <a:rPr/>
              <a:t> in you design and/or teaching style..?</a:t>
            </a:r>
          </a:p>
        </p:txBody>
      </p:sp>
      <p:pic>
        <p:nvPicPr>
          <p:cNvPr descr="images/didactics-thoughts-spectrum.png" id="0" name="Picture 1"/>
          <p:cNvPicPr>
            <a:picLocks noGrp="1" noChangeAspect="1"/>
          </p:cNvPicPr>
          <p:nvPr/>
        </p:nvPicPr>
        <p:blipFill>
          <a:blip r:embed="rId3"/>
          <a:stretch>
            <a:fillRect/>
          </a:stretch>
        </p:blipFill>
        <p:spPr bwMode="auto">
          <a:xfrm>
            <a:off x="6197600" y="3289300"/>
            <a:ext cx="5384800" cy="11430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big are your teaching/training audiences?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i.e., what is the average group size you teach in open research? (&lt; 5 people = very small, &gt; 100 people = very large)</a:t>
            </a:r>
          </a:p>
        </p:txBody>
      </p:sp>
      <p:pic>
        <p:nvPicPr>
          <p:cNvPr descr="images/audience.png" id="0" name="Picture 1"/>
          <p:cNvPicPr>
            <a:picLocks noGrp="1" noChangeAspect="1"/>
          </p:cNvPicPr>
          <p:nvPr/>
        </p:nvPicPr>
        <p:blipFill>
          <a:blip r:embed="rId3"/>
          <a:stretch>
            <a:fillRect/>
          </a:stretch>
        </p:blipFill>
        <p:spPr bwMode="auto">
          <a:xfrm>
            <a:off x="6197600" y="3505200"/>
            <a:ext cx="5384800" cy="7112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 time!</a:t>
            </a:r>
          </a:p>
        </p:txBody>
      </p:sp>
      <p:sp>
        <p:nvSpPr>
          <p:cNvPr id="3" name="Content Placeholder 2"/>
          <p:cNvSpPr>
            <a:spLocks noGrp="1"/>
          </p:cNvSpPr>
          <p:nvPr>
            <p:ph idx="1"/>
          </p:nvPr>
        </p:nvSpPr>
        <p:spPr/>
        <p:txBody>
          <a:bodyPr/>
          <a:lstStyle/>
          <a:p>
            <a:pPr lvl="0" indent="0" marL="0">
              <a:spcBef>
                <a:spcPts val="3000"/>
              </a:spcBef>
              <a:buNone/>
            </a:pPr>
            <a:r>
              <a:rPr b="1"/>
              <a:t>Survey time! (Question 1)</a:t>
            </a:r>
          </a:p>
          <a:p>
            <a:pPr lvl="0" indent="0" marL="0">
              <a:buNone/>
            </a:pPr>
            <a:r>
              <a:rPr b="1"/>
              <a:t>Which of the following concepts or skills do you feel most confident about in relation to didactics and teaching? (Select all that apply)</a:t>
            </a:r>
          </a:p>
          <a:p>
            <a:pPr lvl="0" indent="-457189" marL="457189">
              <a:buAutoNum type="alphaLcPeriod"/>
            </a:pPr>
            <a:r>
              <a:rPr/>
              <a:t>Considering the learner’s prior knowledge in the learning process</a:t>
            </a:r>
          </a:p>
          <a:p>
            <a:pPr lvl="0" indent="-457189" marL="457189">
              <a:buAutoNum type="alphaLcPeriod"/>
            </a:pPr>
            <a:r>
              <a:rPr/>
              <a:t>Constructivism</a:t>
            </a:r>
          </a:p>
          <a:p>
            <a:pPr lvl="0" indent="-457189" marL="457189">
              <a:buAutoNum type="alphaLcPeriod"/>
            </a:pPr>
            <a:r>
              <a:rPr/>
              <a:t>Constructive alignment</a:t>
            </a:r>
          </a:p>
          <a:p>
            <a:pPr lvl="0" indent="-457189" marL="457189">
              <a:buAutoNum type="alphaLcPeriod"/>
            </a:pPr>
            <a:r>
              <a:rPr/>
              <a:t>Mental model of skills acquisition</a:t>
            </a:r>
          </a:p>
          <a:p>
            <a:pPr lvl="0" indent="-457189" marL="457189">
              <a:buAutoNum type="alphaLcPeriod"/>
            </a:pPr>
            <a:r>
              <a:rPr/>
              <a:t>Formulating clear learning objectives</a:t>
            </a:r>
          </a:p>
          <a:p>
            <a:pPr lvl="0" indent="-457189" marL="457189">
              <a:buAutoNum type="alphaLcPeriod"/>
            </a:pPr>
            <a:r>
              <a:rPr/>
              <a:t>None of the above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Survey time! (Question 2)</a:t>
            </a:r>
          </a:p>
          <a:p>
            <a:pPr lvl="0" indent="0" marL="0">
              <a:buNone/>
            </a:pPr>
            <a:r>
              <a:rPr b="1"/>
              <a:t>What is your level of familiarity with constructive alignment?</a:t>
            </a:r>
          </a:p>
          <a:p>
            <a:pPr lvl="0" indent="-457189" marL="457189">
              <a:buAutoNum type="alphaLcPeriod"/>
            </a:pPr>
            <a:r>
              <a:rPr/>
              <a:t>I have never heard of it before.</a:t>
            </a:r>
          </a:p>
          <a:p>
            <a:pPr lvl="0" indent="-457189" marL="457189">
              <a:buAutoNum type="alphaLcPeriod"/>
            </a:pPr>
            <a:r>
              <a:rPr/>
              <a:t>I have heard of it but have never implemented it in my teaching.</a:t>
            </a:r>
          </a:p>
          <a:p>
            <a:pPr lvl="0" indent="-457189" marL="457189">
              <a:buAutoNum type="alphaLcPeriod"/>
            </a:pPr>
            <a:r>
              <a:rPr/>
              <a:t>I have a basic working definition in mind and sometimes implement it in my teaching.</a:t>
            </a:r>
          </a:p>
          <a:p>
            <a:pPr lvl="0" indent="-457189" marL="457189">
              <a:buAutoNum type="alphaLcPeriod"/>
            </a:pPr>
            <a:r>
              <a:rPr/>
              <a:t>I am very familiar and have routinely applied this framework in my teaching.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Survey time! (Question 3)</a:t>
            </a:r>
          </a:p>
          <a:p>
            <a:pPr lvl="0" indent="0" marL="0">
              <a:buNone/>
            </a:pPr>
            <a:r>
              <a:rPr b="1"/>
              <a:t>What is your level of familiarity with the three learning domains (cognitive, affective and psychomotor)?</a:t>
            </a:r>
          </a:p>
          <a:p>
            <a:pPr lvl="0" indent="-457189" marL="457189">
              <a:buAutoNum type="alphaLcPeriod"/>
            </a:pPr>
            <a:r>
              <a:rPr/>
              <a:t>I have never heard of them before.</a:t>
            </a:r>
          </a:p>
          <a:p>
            <a:pPr lvl="0" indent="-457189" marL="457189">
              <a:buAutoNum type="alphaLcPeriod"/>
            </a:pPr>
            <a:r>
              <a:rPr/>
              <a:t>I have heard of them but have never considered them in my teaching.</a:t>
            </a:r>
          </a:p>
          <a:p>
            <a:pPr lvl="0" indent="-457189" marL="457189">
              <a:buAutoNum type="alphaLcPeriod"/>
            </a:pPr>
            <a:r>
              <a:rPr/>
              <a:t>I have a basic understanding and sometimes implement them in my teaching.</a:t>
            </a:r>
          </a:p>
          <a:p>
            <a:pPr lvl="0" indent="-457189" marL="457189">
              <a:buAutoNum type="alphaLcPeriod"/>
            </a:pPr>
            <a:r>
              <a:rPr/>
              <a:t>I am very familiar and have routinely applied them in my teaching.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session journey</a:t>
            </a:r>
          </a:p>
        </p:txBody>
      </p:sp>
      <p:pic>
        <p:nvPicPr>
          <p:cNvPr descr="images/journey.png" id="0" name="Picture 1"/>
          <p:cNvPicPr>
            <a:picLocks noGrp="1" noChangeAspect="1"/>
          </p:cNvPicPr>
          <p:nvPr/>
        </p:nvPicPr>
        <p:blipFill>
          <a:blip r:embed="rId3"/>
          <a:stretch>
            <a:fillRect/>
          </a:stretch>
        </p:blipFill>
        <p:spPr bwMode="auto">
          <a:xfrm>
            <a:off x="1739900" y="1600200"/>
            <a:ext cx="3124200" cy="45212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From</a:t>
            </a:r>
          </a:p>
          <a:p>
            <a:pPr lvl="0" indent="0" marL="0">
              <a:buNone/>
            </a:pPr>
            <a:r>
              <a:rPr b="1"/>
              <a:t>I am not sure what good teaching in open research involves…</a:t>
            </a:r>
          </a:p>
          <a:p>
            <a:pPr lvl="0" indent="0" marL="0">
              <a:buNone/>
            </a:pPr>
            <a:r>
              <a:rPr/>
              <a:t>to</a:t>
            </a:r>
          </a:p>
          <a:p>
            <a:pPr lvl="0" indent="0" marL="0">
              <a:buNone/>
            </a:pPr>
            <a:r>
              <a:rPr b="1"/>
              <a:t>I feel more confident that I can pass on my knowledge of open research to my learners using evidence-based didactic methods.</a:t>
            </a:r>
          </a:p>
        </p:txBody>
      </p:sp>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indent="0" marL="0">
              <a:buNone/>
            </a:pPr>
            <a:r>
              <a:rPr/>
              <a:t>Some terms we will come across today…</a:t>
            </a:r>
          </a:p>
          <a:p>
            <a:pPr lvl="0"/>
            <a:r>
              <a:rPr b="1"/>
              <a:t>Constructivism</a:t>
            </a:r>
            <a:r>
              <a:rPr/>
              <a:t>:</a:t>
            </a:r>
          </a:p>
          <a:p>
            <a:pPr lvl="0"/>
            <a:r>
              <a:rPr b="1"/>
              <a:t>Constructive alignment</a:t>
            </a:r>
            <a:r>
              <a:rPr/>
              <a:t>:</a:t>
            </a:r>
          </a:p>
          <a:p>
            <a:pPr lvl="0"/>
            <a:r>
              <a:rPr b="1"/>
              <a:t>Learning objectives</a:t>
            </a:r>
            <a:r>
              <a:rPr/>
              <a:t>:</a:t>
            </a:r>
          </a:p>
          <a:p>
            <a:pPr lvl="0"/>
            <a:r>
              <a:rPr b="1"/>
              <a:t>Bloom’s taxonomy</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indent="0" marL="0">
              <a:buNone/>
            </a:pPr>
            <a:r>
              <a:rPr/>
              <a:t>Some terms we will come across today…</a:t>
            </a:r>
          </a:p>
          <a:p>
            <a:pPr lvl="0"/>
            <a:r>
              <a:rPr b="1"/>
              <a:t>Constructivism</a:t>
            </a:r>
            <a:r>
              <a:rPr/>
              <a:t>: The notion that learners actively build their own understanding of the world rather than absorbing information passively (Sjøberg, 2010).</a:t>
            </a:r>
          </a:p>
          <a:p>
            <a:pPr lvl="0"/>
            <a:r>
              <a:rPr b="1"/>
              <a:t>Constructive alignment</a:t>
            </a:r>
            <a:r>
              <a:rPr/>
              <a:t>: A teaching approach in which learning objectives, teaching activities, and assessment tasks are aligned so that learners actively construct knowledge and skills (Biggs, 1996).</a:t>
            </a:r>
          </a:p>
          <a:p>
            <a:pPr lvl="0"/>
            <a:r>
              <a:rPr b="1"/>
              <a:t>Learning objectives</a:t>
            </a:r>
            <a:r>
              <a:rPr/>
              <a:t>: Describe what learners should be able to do after instruction and should specify the intended performance, conditions, and criteria for success.</a:t>
            </a:r>
          </a:p>
          <a:p>
            <a:pPr lvl="0"/>
            <a:r>
              <a:rPr b="1"/>
              <a:t>Bloom’s taxonomy</a:t>
            </a:r>
            <a:r>
              <a:rPr/>
              <a:t>: A framework for classifying levels of learning and cognitive skills (Bloom et al., 1964), organized from lower-order thinking skills (e.g., remembering and understanding to higher-order skills (analyzing, evaluating).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Covered in this session</a:t>
            </a:r>
          </a:p>
        </p:txBody>
      </p:sp>
      <p:sp>
        <p:nvSpPr>
          <p:cNvPr id="3" name="Content Placeholder 2"/>
          <p:cNvSpPr>
            <a:spLocks noGrp="1"/>
          </p:cNvSpPr>
          <p:nvPr>
            <p:ph idx="1"/>
          </p:nvPr>
        </p:nvSpPr>
        <p:spPr/>
        <p:txBody>
          <a:bodyPr/>
          <a:lstStyle/>
          <a:p>
            <a:pPr lvl="0"/>
            <a:r>
              <a:rPr/>
              <a:t>What </a:t>
            </a:r>
            <a:r>
              <a:rPr i="1"/>
              <a:t>is</a:t>
            </a:r>
            <a:r>
              <a:rPr/>
              <a:t> learning?</a:t>
            </a:r>
          </a:p>
          <a:p>
            <a:pPr lvl="0"/>
            <a:r>
              <a:rPr b="1"/>
              <a:t>Constructivism</a:t>
            </a:r>
          </a:p>
          <a:p>
            <a:pPr lvl="0"/>
            <a:r>
              <a:rPr b="1"/>
              <a:t>Constructive alignment</a:t>
            </a:r>
          </a:p>
          <a:p>
            <a:pPr lvl="0"/>
            <a:r>
              <a:rPr/>
              <a:t>Learning domains and levels of knowledge: </a:t>
            </a:r>
            <a:r>
              <a:rPr b="1"/>
              <a:t>Bloom’s taxonomy</a:t>
            </a:r>
          </a:p>
          <a:p>
            <a:pPr lvl="0"/>
            <a:r>
              <a:rPr/>
              <a:t>Formulating </a:t>
            </a:r>
            <a:r>
              <a:rPr b="1"/>
              <a:t>learning objectives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will…</a:t>
            </a:r>
          </a:p>
          <a:p>
            <a:pPr lvl="0"/>
            <a:r>
              <a:rPr b="1"/>
              <a:t>Remember</a:t>
            </a:r>
            <a:r>
              <a:rPr/>
              <a:t> basic didactic concepts as the foundation for learning success</a:t>
            </a:r>
          </a:p>
          <a:p>
            <a:pPr lvl="0"/>
            <a:r>
              <a:rPr b="1"/>
              <a:t>Explain</a:t>
            </a:r>
            <a:r>
              <a:rPr/>
              <a:t> and </a:t>
            </a:r>
            <a:r>
              <a:rPr b="1"/>
              <a:t>compare</a:t>
            </a:r>
            <a:r>
              <a:rPr/>
              <a:t> how knowledge can be organized depending on the level of expertise</a:t>
            </a:r>
          </a:p>
          <a:p>
            <a:pPr lvl="0"/>
            <a:r>
              <a:rPr b="1"/>
              <a:t>Evaluate</a:t>
            </a:r>
            <a:r>
              <a:rPr/>
              <a:t> the alignment between learning objectives, assessment types and teaching activities</a:t>
            </a:r>
          </a:p>
          <a:p>
            <a:pPr lvl="0"/>
            <a:r>
              <a:rPr b="1"/>
              <a:t>Formulate</a:t>
            </a:r>
            <a:r>
              <a:rPr/>
              <a:t> concrete learning objectives according to specific learning domains for real-world content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didactics?</a:t>
            </a:r>
          </a:p>
        </p:txBody>
      </p:sp>
      <p:sp>
        <p:nvSpPr>
          <p:cNvPr id="3" name="Text Placeholder 2"/>
          <p:cNvSpPr>
            <a:spLocks noGrp="1"/>
          </p:cNvSpPr>
          <p:nvPr>
            <p:ph idx="1" type="body"/>
          </p:nvPr>
        </p:nvSpPr>
        <p:spPr/>
        <p:txBody>
          <a:bodyPr/>
          <a:lstStyle/>
          <a:p>
            <a:pPr lvl="0" indent="0" marL="1270000">
              <a:buNone/>
            </a:pPr>
            <a:r>
              <a:rPr sz="2000"/>
              <a:t>Origins in Ancient Greek</a:t>
            </a:r>
          </a:p>
        </p:txBody>
      </p:sp>
      <p:graphicFrame>
        <p:nvGraphicFramePr>
          <p:cNvPr id="6" name="Content Placeholder 5"/>
          <p:cNvGraphicFramePr>
            <a:graphicFrameLocks noGrp="1"/>
          </p:cNvGraphicFramePr>
          <p:nvPr>
            <p:ph idx="1"/>
          </p:nvPr>
        </p:nvGraphicFramePr>
        <p:xfrm>
          <a:off x="609600" y="2171700"/>
          <a:ext cx="5384800" cy="3949700"/>
        </p:xfrm>
        <a:graphic>
          <a:graphicData uri="http://schemas.openxmlformats.org/drawingml/2006/table">
            <a:tbl>
              <a:tblPr firstRow="1" bandRow="1">
                <a:tableStyleId>{5C22544A-7EE6-4342-B048-85BDC9FD1C3A}</a:tableStyleId>
              </a:tblPr>
              <a:tblGrid>
                <a:gridCol w="1346200"/>
                <a:gridCol w="1536700"/>
                <a:gridCol w="2501900"/>
              </a:tblGrid>
              <a:tr h="0">
                <a:tc>
                  <a:txBody>
                    <a:bodyPr/>
                    <a:lstStyle/>
                    <a:p>
                      <a:pPr lvl="0" indent="0" marL="0" algn="l">
                        <a:buNone/>
                      </a:pPr>
                      <a:r>
                        <a:rPr/>
                        <a:t>Greek</a:t>
                      </a:r>
                    </a:p>
                  </a:txBody>
                  <a:tcPr/>
                </a:tc>
                <a:tc>
                  <a:txBody>
                    <a:bodyPr/>
                    <a:lstStyle/>
                    <a:p>
                      <a:pPr lvl="0" indent="0" marL="0" algn="l">
                        <a:buNone/>
                      </a:pPr>
                      <a:r>
                        <a:rPr/>
                        <a:t>Transliteration</a:t>
                      </a:r>
                    </a:p>
                  </a:txBody>
                  <a:tcPr/>
                </a:tc>
                <a:tc>
                  <a:txBody>
                    <a:bodyPr/>
                    <a:lstStyle/>
                    <a:p>
                      <a:pPr lvl="0" indent="0" marL="0" algn="l">
                        <a:buNone/>
                      </a:pPr>
                      <a:r>
                        <a:rPr/>
                        <a:t>Meaning</a:t>
                      </a:r>
                    </a:p>
                  </a:txBody>
                  <a:tcPr/>
                </a:tc>
              </a:tr>
              <a:tr h="0">
                <a:tc>
                  <a:txBody>
                    <a:bodyPr/>
                    <a:lstStyle/>
                    <a:p>
                      <a:pPr lvl="0" indent="0" marL="0" algn="l">
                        <a:buNone/>
                      </a:pPr>
                      <a:r>
                        <a:rPr b="1"/>
                        <a:t>διδάσκω</a:t>
                      </a:r>
                    </a:p>
                  </a:txBody>
                </a:tc>
                <a:tc>
                  <a:txBody>
                    <a:bodyPr/>
                    <a:lstStyle/>
                    <a:p>
                      <a:pPr lvl="0" indent="0" marL="0" algn="l">
                        <a:buNone/>
                      </a:pPr>
                      <a:r>
                        <a:rPr i="1"/>
                        <a:t>didáskō</a:t>
                      </a:r>
                    </a:p>
                  </a:txBody>
                </a:tc>
                <a:tc>
                  <a:txBody>
                    <a:bodyPr/>
                    <a:lstStyle/>
                    <a:p>
                      <a:pPr lvl="0" indent="0" marL="0" algn="l">
                        <a:buNone/>
                      </a:pPr>
                      <a:r>
                        <a:rPr/>
                        <a:t>to teach; to instruct; to show; to indicate</a:t>
                      </a:r>
                    </a:p>
                  </a:txBody>
                </a:tc>
              </a:tr>
              <a:tr h="0">
                <a:tc>
                  <a:txBody>
                    <a:bodyPr/>
                    <a:lstStyle/>
                    <a:p>
                      <a:pPr lvl="0" indent="0" marL="0" algn="l">
                        <a:buNone/>
                      </a:pPr>
                      <a:r>
                        <a:rPr b="1"/>
                        <a:t>διδακτός</a:t>
                      </a:r>
                    </a:p>
                  </a:txBody>
                </a:tc>
                <a:tc>
                  <a:txBody>
                    <a:bodyPr/>
                    <a:lstStyle/>
                    <a:p>
                      <a:pPr lvl="0" indent="0" marL="0" algn="l">
                        <a:buNone/>
                      </a:pPr>
                      <a:r>
                        <a:rPr i="1"/>
                        <a:t>didaktos</a:t>
                      </a:r>
                    </a:p>
                  </a:txBody>
                </a:tc>
                <a:tc>
                  <a:txBody>
                    <a:bodyPr/>
                    <a:lstStyle/>
                    <a:p>
                      <a:pPr lvl="0" indent="0" marL="0" algn="l">
                        <a:buNone/>
                      </a:pPr>
                      <a:r>
                        <a:rPr/>
                        <a:t>taught</a:t>
                      </a:r>
                    </a:p>
                  </a:txBody>
                </a:tc>
              </a:tr>
              <a:tr h="0">
                <a:tc>
                  <a:txBody>
                    <a:bodyPr/>
                    <a:lstStyle/>
                    <a:p>
                      <a:pPr lvl="0" indent="0" marL="0" algn="l">
                        <a:buNone/>
                      </a:pPr>
                      <a:r>
                        <a:rPr b="1"/>
                        <a:t>διδακτικός</a:t>
                      </a:r>
                    </a:p>
                  </a:txBody>
                </a:tc>
                <a:tc>
                  <a:txBody>
                    <a:bodyPr/>
                    <a:lstStyle/>
                    <a:p>
                      <a:pPr lvl="0" indent="0" marL="0" algn="l">
                        <a:buNone/>
                      </a:pPr>
                      <a:r>
                        <a:rPr i="1"/>
                        <a:t>didaktikos</a:t>
                      </a:r>
                    </a:p>
                  </a:txBody>
                </a:tc>
                <a:tc>
                  <a:txBody>
                    <a:bodyPr/>
                    <a:lstStyle/>
                    <a:p>
                      <a:pPr lvl="0" indent="0" marL="0" algn="l">
                        <a:buNone/>
                      </a:pPr>
                      <a:r>
                        <a:rPr/>
                        <a:t>apt to teach; able to teach</a:t>
                      </a:r>
                    </a:p>
                  </a:txBody>
                </a:tc>
              </a:tr>
            </a:tbl>
          </a:graphicData>
        </a:graphic>
      </p:graphicFrame>
      <p:pic>
        <p:nvPicPr>
          <p:cNvPr descr="images/greek.png" id="0" name="Picture 1"/>
          <p:cNvPicPr>
            <a:picLocks noGrp="1" noChangeAspect="1"/>
          </p:cNvPicPr>
          <p:nvPr/>
        </p:nvPicPr>
        <p:blipFill>
          <a:blip r:embed="rId3"/>
          <a:stretch>
            <a:fillRect/>
          </a:stretch>
        </p:blipFill>
        <p:spPr bwMode="auto">
          <a:xfrm>
            <a:off x="6908800" y="2171700"/>
            <a:ext cx="3949700" cy="3949700"/>
          </a:xfrm>
          <a:prstGeom prst="rect">
            <a:avLst/>
          </a:prstGeom>
          <a:noFill/>
          <a:ln w="9525">
            <a:noFill/>
            <a:headEnd/>
            <a:tailEnd/>
          </a:ln>
        </p:spPr>
      </p:pic>
      <p:sp>
        <p:nvSpPr>
          <p:cNvPr id="8" name="Date Placeholder 7">
            <a:extLst>
              <a:ext uri="{FF2B5EF4-FFF2-40B4-BE49-F238E27FC236}">
                <a16:creationId xmlns:a16="http://schemas.microsoft.com/office/drawing/2014/main" id="{58100809-C7AD-AA37-7E54-5E07B4142DB5}"/>
              </a:ext>
            </a:extLst>
          </p:cNvPr>
          <p:cNvSpPr>
            <a:spLocks noGrp="1"/>
          </p:cNvSpPr>
          <p:nvPr>
            <p:ph idx="10" sz="half" type="dt"/>
          </p:nvPr>
        </p:nvSpPr>
        <p:spPr/>
        <p:txBody>
          <a:bodyPr/>
          <a:lstStyle/>
          <a:p>
            <a:pPr algn="ctr"/>
            <a:r>
              <a:rPr lang="en-US"/>
              <a:t>19/10/2026</a:t>
            </a:r>
            <a:endParaRPr dirty="0" lang="en-US"/>
          </a:p>
        </p:txBody>
      </p:sp>
      <p:sp>
        <p:nvSpPr>
          <p:cNvPr id="9" name="Footer Placeholder 8">
            <a:extLst>
              <a:ext uri="{FF2B5EF4-FFF2-40B4-BE49-F238E27FC236}">
                <a16:creationId xmlns:a16="http://schemas.microsoft.com/office/drawing/2014/main" id="{780EC85D-71EC-E3EF-4192-AAB31D7B0AC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Didactics …</a:t>
            </a:r>
          </a:p>
        </p:txBody>
      </p:sp>
      <p:sp>
        <p:nvSpPr>
          <p:cNvPr id="3" name="Content Placeholder 2"/>
          <p:cNvSpPr>
            <a:spLocks noGrp="1"/>
          </p:cNvSpPr>
          <p:nvPr>
            <p:ph idx="1"/>
          </p:nvPr>
        </p:nvSpPr>
        <p:spPr/>
        <p:txBody>
          <a:bodyPr/>
          <a:lstStyle/>
          <a:p>
            <a:pPr lvl="0" indent="0" marL="0">
              <a:buNone/>
            </a:pPr>
          </a:p>
          <a:p>
            <a:pPr lvl="0" indent="0" marL="0">
              <a:buNone/>
            </a:pPr>
            <a:r>
              <a:rPr/>
              <a:t>“…is the </a:t>
            </a:r>
            <a:r>
              <a:rPr b="1"/>
              <a:t>science of learning and teaching in general</a:t>
            </a:r>
            <a:r>
              <a:rPr/>
              <a:t>”  (Dolch, 1967)</a:t>
            </a:r>
          </a:p>
          <a:p>
            <a:pPr lvl="0" indent="0" marL="0">
              <a:buNone/>
            </a:pPr>
          </a:p>
          <a:p>
            <a:pPr lvl="0" indent="0" marL="0">
              <a:buNone/>
            </a:pPr>
            <a:r>
              <a:rPr/>
              <a:t>“…includes </a:t>
            </a:r>
            <a:r>
              <a:rPr b="1"/>
              <a:t>teaching and learning strategies</a:t>
            </a:r>
            <a:r>
              <a:rPr/>
              <a:t> […] referring to the </a:t>
            </a:r>
            <a:r>
              <a:rPr b="1"/>
              <a:t>design</a:t>
            </a:r>
            <a:r>
              <a:rPr/>
              <a:t>, programming, elaboration and </a:t>
            </a:r>
            <a:r>
              <a:rPr b="1"/>
              <a:t>formulation</a:t>
            </a:r>
            <a:r>
              <a:rPr/>
              <a:t> of </a:t>
            </a:r>
            <a:r>
              <a:rPr b="1"/>
              <a:t>learning contents</a:t>
            </a:r>
            <a:r>
              <a:rPr/>
              <a:t> in verbal or written form.”  (Casasola Rivera, 2020)</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Didactics …</a:t>
            </a:r>
          </a:p>
        </p:txBody>
      </p:sp>
      <p:sp>
        <p:nvSpPr>
          <p:cNvPr id="3" name="Content Placeholder 2"/>
          <p:cNvSpPr>
            <a:spLocks noGrp="1"/>
          </p:cNvSpPr>
          <p:nvPr>
            <p:ph idx="1" sz="half"/>
          </p:nvPr>
        </p:nvSpPr>
        <p:spPr/>
        <p:txBody>
          <a:bodyPr/>
          <a:lstStyle/>
          <a:p>
            <a:pPr lvl="0" indent="0" marL="0">
              <a:buNone/>
            </a:pPr>
            <a:r>
              <a:rPr/>
              <a:t>“… encompasses questions about the </a:t>
            </a:r>
            <a:r>
              <a:rPr b="1"/>
              <a:t>selection of knowledge, teaching methods</a:t>
            </a:r>
            <a:r>
              <a:rPr/>
              <a:t>, and how learning takes place in different </a:t>
            </a:r>
            <a:r>
              <a:rPr b="1"/>
              <a:t>contexts</a:t>
            </a:r>
            <a:r>
              <a:rPr/>
              <a:t>. It can be seen as the </a:t>
            </a:r>
            <a:r>
              <a:rPr b="1"/>
              <a:t>planning, implementation, and analysis of teaching</a:t>
            </a:r>
            <a:r>
              <a:rPr/>
              <a:t>, with a particular focus on </a:t>
            </a:r>
            <a:r>
              <a:rPr b="1"/>
              <a:t>why certain objectives, content, and methods are chosen</a:t>
            </a:r>
            <a:r>
              <a:rPr/>
              <a:t>.”</a:t>
            </a:r>
          </a:p>
        </p:txBody>
      </p:sp>
      <p:pic>
        <p:nvPicPr>
          <p:cNvPr descr="images/didactics.png" id="0" name="Picture 1"/>
          <p:cNvPicPr>
            <a:picLocks noGrp="1" noChangeAspect="1"/>
          </p:cNvPicPr>
          <p:nvPr/>
        </p:nvPicPr>
        <p:blipFill>
          <a:blip r:embed="rId3"/>
          <a:stretch>
            <a:fillRect/>
          </a:stretch>
        </p:blipFill>
        <p:spPr bwMode="auto">
          <a:xfrm>
            <a:off x="6629400" y="1600200"/>
            <a:ext cx="4521200" cy="45212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What </a:t>
            </a:r>
            <a:r>
              <a:rPr i="1"/>
              <a:t>is</a:t>
            </a:r>
            <a:r>
              <a:rPr/>
              <a:t> learning?</a:t>
            </a:r>
          </a:p>
        </p:txBody>
      </p:sp>
      <p:sp>
        <p:nvSpPr>
          <p:cNvPr id="3" name="Content Placeholder 2"/>
          <p:cNvSpPr>
            <a:spLocks noGrp="1"/>
          </p:cNvSpPr>
          <p:nvPr>
            <p:ph idx="1"/>
          </p:nvPr>
        </p:nvSpPr>
        <p:spPr/>
        <p:txBody>
          <a:bodyPr/>
          <a:lstStyle/>
          <a:p>
            <a:pPr lvl="0" indent="0" marL="0">
              <a:buNone/>
            </a:pPr>
            <a:r>
              <a:rPr/>
              <a:t>What do you </a:t>
            </a:r>
            <a:r>
              <a:rPr b="1"/>
              <a:t>connect</a:t>
            </a:r>
            <a:r>
              <a:rPr/>
              <a:t> with this concept? First thoughts? Assumptions? Expectations?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indent="0" marL="0">
              <a:buNone/>
            </a:pPr>
            <a:r>
              <a:rPr/>
              <a:t> </a:t>
            </a:r>
          </a:p>
          <a:p>
            <a:pPr lvl="0" indent="0" marL="0">
              <a:buNone/>
            </a:pPr>
            <a:r>
              <a:rPr/>
              <a:t>“…a </a:t>
            </a:r>
            <a:r>
              <a:rPr b="1"/>
              <a:t>process</a:t>
            </a:r>
            <a:r>
              <a:rPr/>
              <a:t> that leads to </a:t>
            </a:r>
            <a:r>
              <a:rPr b="1"/>
              <a:t>change</a:t>
            </a:r>
            <a:r>
              <a:rPr/>
              <a:t>, which occurs as a result of </a:t>
            </a:r>
            <a:r>
              <a:rPr b="1"/>
              <a:t>experience</a:t>
            </a:r>
            <a:r>
              <a:rPr/>
              <a:t> and increases the potential for improved performance and </a:t>
            </a:r>
            <a:r>
              <a:rPr b="1"/>
              <a:t>future learning</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a:r>
              <a:rPr/>
              <a:t>Learning does </a:t>
            </a:r>
            <a:r>
              <a:rPr b="1"/>
              <a:t>not happen in a vacuum</a:t>
            </a:r>
            <a:r>
              <a:rPr/>
              <a:t>.  The </a:t>
            </a:r>
            <a:r>
              <a:rPr b="1"/>
              <a:t>learning context matters</a:t>
            </a:r>
            <a:r>
              <a:rPr/>
              <a:t>!</a:t>
            </a:r>
          </a:p>
          <a:p>
            <a:pPr lvl="1"/>
            <a:r>
              <a:rPr/>
              <a:t>New ideas </a:t>
            </a:r>
            <a:r>
              <a:rPr b="1"/>
              <a:t>are interpreted</a:t>
            </a:r>
            <a:r>
              <a:rPr/>
              <a:t> through the lens of </a:t>
            </a:r>
            <a:r>
              <a:rPr b="1"/>
              <a:t>what learners already know</a:t>
            </a:r>
          </a:p>
          <a:p>
            <a:pPr lvl="1"/>
            <a:r>
              <a:rPr/>
              <a:t>Learners are </a:t>
            </a:r>
            <a:r>
              <a:rPr b="1"/>
              <a:t>not</a:t>
            </a:r>
            <a:r>
              <a:rPr/>
              <a:t> empty “vessels” to be filled</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t>
            </a:r>
            <a:r>
              <a:rPr i="1"/>
              <a:t>is</a:t>
            </a:r>
            <a:r>
              <a:rPr/>
              <a:t> learning?</a:t>
            </a:r>
          </a:p>
        </p:txBody>
      </p:sp>
      <p:sp>
        <p:nvSpPr>
          <p:cNvPr id="3" name="Content Placeholder 2"/>
          <p:cNvSpPr>
            <a:spLocks noGrp="1"/>
          </p:cNvSpPr>
          <p:nvPr>
            <p:ph idx="1"/>
          </p:nvPr>
        </p:nvSpPr>
        <p:spPr/>
        <p:txBody>
          <a:bodyPr/>
          <a:lstStyle/>
          <a:p>
            <a:pPr lvl="0"/>
            <a:r>
              <a:rPr/>
              <a:t>Learning does </a:t>
            </a:r>
            <a:r>
              <a:rPr b="1"/>
              <a:t>not happen in a vacuum</a:t>
            </a:r>
            <a:r>
              <a:rPr/>
              <a:t>.  The </a:t>
            </a:r>
            <a:r>
              <a:rPr b="1"/>
              <a:t>learning context matters</a:t>
            </a:r>
            <a:r>
              <a:rPr/>
              <a:t>!</a:t>
            </a:r>
          </a:p>
          <a:p>
            <a:pPr lvl="1"/>
            <a:r>
              <a:rPr/>
              <a:t>New ideas </a:t>
            </a:r>
            <a:r>
              <a:rPr b="1"/>
              <a:t>are interpreted</a:t>
            </a:r>
            <a:r>
              <a:rPr/>
              <a:t> through the lens of </a:t>
            </a:r>
            <a:r>
              <a:rPr b="1"/>
              <a:t>what learners already know</a:t>
            </a:r>
          </a:p>
          <a:p>
            <a:pPr lvl="1"/>
            <a:r>
              <a:rPr/>
              <a:t>Learners are </a:t>
            </a:r>
            <a:r>
              <a:rPr b="1"/>
              <a:t>not</a:t>
            </a:r>
            <a:r>
              <a:rPr/>
              <a:t> empty “vessels” to be filled</a:t>
            </a:r>
          </a:p>
          <a:p>
            <a:pPr lvl="0" indent="0" marL="0">
              <a:buNone/>
            </a:pPr>
          </a:p>
          <a:p>
            <a:pPr lvl="0" indent="0" marL="0">
              <a:buNone/>
            </a:pPr>
            <a:r>
              <a:rPr b="1"/>
              <a:t>Constructivism</a:t>
            </a:r>
            <a:r>
              <a:rPr/>
              <a:t>: Learning is not passively received, but </a:t>
            </a:r>
            <a:r>
              <a:rPr b="1"/>
              <a:t>actively built and shaped</a:t>
            </a:r>
            <a:r>
              <a:rPr/>
              <a:t> by prior knowledge and the learning </a:t>
            </a:r>
            <a:r>
              <a:rPr b="1"/>
              <a:t>context</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importance of prior knowledge</a:t>
            </a:r>
          </a:p>
        </p:txBody>
      </p:sp>
      <p:sp>
        <p:nvSpPr>
          <p:cNvPr id="3" name="Content Placeholder 2"/>
          <p:cNvSpPr>
            <a:spLocks noGrp="1"/>
          </p:cNvSpPr>
          <p:nvPr>
            <p:ph idx="1"/>
          </p:nvPr>
        </p:nvSpPr>
        <p:spPr/>
        <p:txBody>
          <a:bodyPr/>
          <a:lstStyle/>
          <a:p>
            <a:pPr lvl="0"/>
            <a:r>
              <a:rPr/>
              <a:t>Knowledge = </a:t>
            </a:r>
            <a:r>
              <a:rPr b="1"/>
              <a:t>facts, concepts, beliefs, values, models, perceptions, attitudes …</a:t>
            </a:r>
          </a:p>
          <a:p>
            <a:pPr lvl="0" indent="0" marL="0">
              <a:buNone/>
            </a:pPr>
          </a:p>
          <a:p>
            <a:pPr lvl="0" indent="0" marL="1270000">
              <a:buNone/>
            </a:pPr>
            <a:r>
              <a:rPr sz="2000" b="1"/>
              <a:t>Prior knowledge</a:t>
            </a:r>
            <a:r>
              <a:rPr sz="2000"/>
              <a:t> … can </a:t>
            </a:r>
            <a:r>
              <a:rPr sz="2000" b="1"/>
              <a:t>help</a:t>
            </a:r>
            <a:r>
              <a:rPr sz="2000"/>
              <a:t> or </a:t>
            </a:r>
            <a:r>
              <a:rPr sz="2000" b="1"/>
              <a:t>hinder</a:t>
            </a:r>
            <a:r>
              <a:rPr sz="2000"/>
              <a:t> learning!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a:r>
              <a:rPr/>
              <a:t>Can be </a:t>
            </a:r>
            <a:r>
              <a:rPr b="1"/>
              <a:t>accurate</a:t>
            </a:r>
            <a:r>
              <a:rPr/>
              <a:t>, complete and appropriate for context</a:t>
            </a:r>
          </a:p>
        </p:txBody>
      </p:sp>
      <p:pic>
        <p:nvPicPr>
          <p:cNvPr descr="images/progress.png" id="0" name="Picture 1"/>
          <p:cNvPicPr>
            <a:picLocks noGrp="1" noChangeAspect="1"/>
          </p:cNvPicPr>
          <p:nvPr/>
        </p:nvPicPr>
        <p:blipFill>
          <a:blip r:embed="rId3"/>
          <a:stretch>
            <a:fillRect/>
          </a:stretch>
        </p:blipFill>
        <p:spPr bwMode="auto">
          <a:xfrm>
            <a:off x="1320800" y="2171700"/>
            <a:ext cx="3949700" cy="39497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a:t>Can be </a:t>
            </a:r>
            <a:r>
              <a:rPr b="1"/>
              <a:t>inaccurate</a:t>
            </a:r>
            <a:r>
              <a:rPr/>
              <a:t>, incomplete or inappropriate for context</a:t>
            </a:r>
          </a:p>
        </p:txBody>
      </p:sp>
      <p:pic>
        <p:nvPicPr>
          <p:cNvPr descr="images/obstacles.png" id="0" name="Picture 1"/>
          <p:cNvPicPr>
            <a:picLocks noGrp="1" noChangeAspect="1"/>
          </p:cNvPicPr>
          <p:nvPr/>
        </p:nvPicPr>
        <p:blipFill>
          <a:blip r:embed="rId4"/>
          <a:stretch>
            <a:fillRect/>
          </a:stretch>
        </p:blipFill>
        <p:spPr bwMode="auto">
          <a:xfrm>
            <a:off x="6908800" y="2171700"/>
            <a:ext cx="3949700" cy="3949700"/>
          </a:xfrm>
          <a:prstGeom prst="rect">
            <a:avLst/>
          </a:prstGeom>
          <a:noFill/>
          <a:ln w="9525">
            <a:noFill/>
            <a:headEnd/>
            <a:tailEnd/>
          </a:ln>
        </p:spPr>
      </p:pic>
      <p:sp>
        <p:nvSpPr>
          <p:cNvPr id="8" name="Date Placeholder 7">
            <a:extLst>
              <a:ext uri="{FF2B5EF4-FFF2-40B4-BE49-F238E27FC236}">
                <a16:creationId xmlns:a16="http://schemas.microsoft.com/office/drawing/2014/main" id="{58100809-C7AD-AA37-7E54-5E07B4142DB5}"/>
              </a:ext>
            </a:extLst>
          </p:cNvPr>
          <p:cNvSpPr>
            <a:spLocks noGrp="1"/>
          </p:cNvSpPr>
          <p:nvPr>
            <p:ph idx="10" sz="half" type="dt"/>
          </p:nvPr>
        </p:nvSpPr>
        <p:spPr/>
        <p:txBody>
          <a:bodyPr/>
          <a:lstStyle/>
          <a:p>
            <a:pPr algn="ctr"/>
            <a:r>
              <a:rPr lang="en-US"/>
              <a:t>19/10/2026</a:t>
            </a:r>
            <a:endParaRPr dirty="0" lang="en-US"/>
          </a:p>
        </p:txBody>
      </p:sp>
      <p:sp>
        <p:nvSpPr>
          <p:cNvPr id="9" name="Footer Placeholder 8">
            <a:extLst>
              <a:ext uri="{FF2B5EF4-FFF2-40B4-BE49-F238E27FC236}">
                <a16:creationId xmlns:a16="http://schemas.microsoft.com/office/drawing/2014/main" id="{780EC85D-71EC-E3EF-4192-AAB31D7B0AC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6473786-B1D7-CA2F-C7C4-09172E081B28}"/>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What is an expert?</a:t>
            </a:r>
          </a:p>
        </p:txBody>
      </p:sp>
      <p:sp>
        <p:nvSpPr>
          <p:cNvPr id="3" name="Content Placeholder 2"/>
          <p:cNvSpPr>
            <a:spLocks noGrp="1"/>
          </p:cNvSpPr>
          <p:nvPr>
            <p:ph idx="1"/>
          </p:nvPr>
        </p:nvSpPr>
        <p:spPr/>
        <p:txBody>
          <a:bodyPr/>
          <a:lstStyle/>
          <a:p>
            <a:pPr lvl="0" indent="0" marL="0">
              <a:buNone/>
            </a:pPr>
          </a:p>
          <a:p>
            <a:pPr lvl="0" indent="0" marL="0">
              <a:buNone/>
            </a:pPr>
            <a:r>
              <a:rPr b="1"/>
              <a:t>What does </a:t>
            </a:r>
            <a:r>
              <a:rPr b="1" i="1"/>
              <a:t>being an expert</a:t>
            </a:r>
            <a:r>
              <a:rPr b="1"/>
              <a:t> mean?</a:t>
            </a:r>
          </a:p>
          <a:p>
            <a:pPr lvl="0" indent="0" marL="0">
              <a:buNone/>
            </a:pPr>
            <a:r>
              <a:rPr/>
              <a:t>What is something that </a:t>
            </a:r>
            <a:r>
              <a:rPr b="1"/>
              <a:t>you are an expert in</a:t>
            </a:r>
            <a:r>
              <a:rPr/>
              <a:t>?</a:t>
            </a:r>
          </a:p>
          <a:p>
            <a:pPr lvl="0" indent="0" marL="0">
              <a:buNone/>
            </a:pPr>
            <a:r>
              <a:rPr/>
              <a:t>How does your </a:t>
            </a:r>
            <a:r>
              <a:rPr b="1"/>
              <a:t>experience</a:t>
            </a:r>
            <a:r>
              <a:rPr/>
              <a:t> with a topic differ when you are an expert compared to when you are </a:t>
            </a:r>
            <a:r>
              <a:rPr b="1"/>
              <a:t>not an expert</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model of skills acquisition</a:t>
            </a:r>
          </a:p>
        </p:txBody>
      </p:sp>
      <p:pic>
        <p:nvPicPr>
          <p:cNvPr descr="images/stages-skills-acquisition.png" id="0" name="Picture 1"/>
          <p:cNvPicPr>
            <a:picLocks noGrp="1" noChangeAspect="1"/>
          </p:cNvPicPr>
          <p:nvPr/>
        </p:nvPicPr>
        <p:blipFill>
          <a:blip r:embed="rId3"/>
          <a:stretch>
            <a:fillRect/>
          </a:stretch>
        </p:blipFill>
        <p:spPr bwMode="auto">
          <a:xfrm>
            <a:off x="2159000" y="1600200"/>
            <a:ext cx="78613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organization of (prior) knowledge</a:t>
            </a:r>
          </a:p>
        </p:txBody>
      </p:sp>
      <p:pic>
        <p:nvPicPr>
          <p:cNvPr descr="images/models_learners.png" id="0" name="Picture 1"/>
          <p:cNvPicPr>
            <a:picLocks noGrp="1" noChangeAspect="1"/>
          </p:cNvPicPr>
          <p:nvPr/>
        </p:nvPicPr>
        <p:blipFill>
          <a:blip r:embed="rId3"/>
          <a:stretch>
            <a:fillRect/>
          </a:stretch>
        </p:blipFill>
        <p:spPr bwMode="auto">
          <a:xfrm>
            <a:off x="2819400" y="1600200"/>
            <a:ext cx="65659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A mental model of acquiring Open Access skills</a:t>
            </a:r>
          </a:p>
        </p:txBody>
      </p:sp>
      <p:graphicFrame>
        <p:nvGraphicFramePr>
          <p:cNvPr id="6" name="Content Placeholder 5"/>
          <p:cNvGraphicFramePr>
            <a:graphicFrameLocks noGrp="1"/>
          </p:cNvGraphicFramePr>
          <p:nvPr>
            <p:ph idx="1"/>
          </p:nvPr>
        </p:nvGraphicFramePr>
        <p:xfrm>
          <a:off x="4762500" y="1435100"/>
          <a:ext cx="6807200" cy="4686300"/>
        </p:xfrm>
        <a:graphic>
          <a:graphicData uri="http://schemas.openxmlformats.org/drawingml/2006/table">
            <a:tbl>
              <a:tblPr firstRow="1" bandRow="1">
                <a:tableStyleId>{5C22544A-7EE6-4342-B048-85BDC9FD1C3A}</a:tableStyleId>
              </a:tblPr>
              <a:tblGrid>
                <a:gridCol w="1397000"/>
                <a:gridCol w="3200400"/>
                <a:gridCol w="2197100"/>
              </a:tblGrid>
              <a:tr h="0">
                <a:tc>
                  <a:txBody>
                    <a:bodyPr/>
                    <a:lstStyle/>
                    <a:p>
                      <a:pPr lvl="0" indent="0" marL="0">
                        <a:buNone/>
                      </a:pPr>
                      <a:r>
                        <a:rPr/>
                        <a:t>Level</a:t>
                      </a:r>
                    </a:p>
                  </a:txBody>
                  <a:tcPr/>
                </a:tc>
                <a:tc>
                  <a:txBody>
                    <a:bodyPr/>
                    <a:lstStyle/>
                    <a:p>
                      <a:pPr lvl="0" indent="0" marL="0">
                        <a:buNone/>
                      </a:pPr>
                      <a:r>
                        <a:rPr/>
                        <a:t>Can do ✅</a:t>
                      </a:r>
                    </a:p>
                  </a:txBody>
                  <a:tcPr/>
                </a:tc>
                <a:tc>
                  <a:txBody>
                    <a:bodyPr/>
                    <a:lstStyle/>
                    <a:p>
                      <a:pPr lvl="0" indent="0" marL="0">
                        <a:buNone/>
                      </a:pPr>
                      <a:r>
                        <a:rPr/>
                        <a:t>Cannot (yet) do ❌</a:t>
                      </a:r>
                    </a:p>
                  </a:txBody>
                  <a:tcPr/>
                </a:tc>
              </a:tr>
              <a:tr h="0">
                <a:tc>
                  <a:txBody>
                    <a:bodyPr/>
                    <a:lstStyle/>
                    <a:p>
                      <a:pPr lvl="0" indent="0" marL="0">
                        <a:buNone/>
                      </a:pPr>
                      <a:r>
                        <a:rPr b="1"/>
                        <a:t>Novice learners</a:t>
                      </a:r>
                    </a:p>
                  </a:txBody>
                </a:tc>
                <a:tc>
                  <a:txBody>
                    <a:bodyPr/>
                    <a:lstStyle/>
                    <a:p>
                      <a:pPr lvl="0" indent="0" marL="0">
                        <a:buNone/>
                      </a:pPr>
                      <a:r>
                        <a:rPr/>
                        <a:t>Recognize that Open Access and publishing licenses exist</a:t>
                      </a:r>
                    </a:p>
                  </a:txBody>
                </a:tc>
                <a:tc>
                  <a:txBody>
                    <a:bodyPr/>
                    <a:lstStyle/>
                    <a:p>
                      <a:pPr lvl="0" indent="0" marL="0">
                        <a:buNone/>
                      </a:pPr>
                      <a:r>
                        <a:rPr/>
                        <a:t>Identify different publishing licenses or explain their effects on authors and readers</a:t>
                      </a:r>
                    </a:p>
                  </a:txBody>
                </a:tc>
              </a:tr>
              <a:tr h="0">
                <a:tc>
                  <a:txBody>
                    <a:bodyPr/>
                    <a:lstStyle/>
                    <a:p>
                      <a:pPr lvl="0" indent="0" marL="0">
                        <a:buNone/>
                      </a:pPr>
                      <a:r>
                        <a:rPr b="1"/>
                        <a:t>Competent practitioners</a:t>
                      </a:r>
                    </a:p>
                  </a:txBody>
                </a:tc>
                <a:tc>
                  <a:txBody>
                    <a:bodyPr/>
                    <a:lstStyle/>
                    <a:p>
                      <a:pPr lvl="0" indent="0" marL="0">
                        <a:buNone/>
                      </a:pPr>
                      <a:r>
                        <a:rPr/>
                        <a:t>Knows which “default licenses” are a good choice for most typical cases</a:t>
                      </a:r>
                    </a:p>
                  </a:txBody>
                </a:tc>
                <a:tc>
                  <a:txBody>
                    <a:bodyPr/>
                    <a:lstStyle/>
                    <a:p>
                      <a:pPr lvl="0" indent="0" marL="0">
                        <a:buNone/>
                      </a:pPr>
                      <a:r>
                        <a:rPr/>
                        <a:t>Explain specific details of licences or handle “untypical” licensing cases</a:t>
                      </a:r>
                    </a:p>
                  </a:txBody>
                </a:tc>
              </a:tr>
              <a:tr h="0">
                <a:tc>
                  <a:txBody>
                    <a:bodyPr/>
                    <a:lstStyle/>
                    <a:p>
                      <a:pPr lvl="0" indent="0" marL="0">
                        <a:buNone/>
                      </a:pPr>
                      <a:r>
                        <a:rPr b="1"/>
                        <a:t>Experts</a:t>
                      </a:r>
                    </a:p>
                  </a:txBody>
                </a:tc>
                <a:tc>
                  <a:txBody>
                    <a:bodyPr/>
                    <a:lstStyle/>
                    <a:p>
                      <a:pPr lvl="0" indent="0" marL="0">
                        <a:buNone/>
                      </a:pPr>
                      <a:r>
                        <a:rPr/>
                        <a:t>Strategically select and apply Open Access routes (Gold, Green, Diamond); choose Creative Commons licenses based on reuse goals; support and train others</a:t>
                      </a:r>
                    </a:p>
                  </a:txBody>
                </a:tc>
                <a:tc>
                  <a:txBody>
                    <a:bodyPr/>
                    <a:lstStyle/>
                    <a:p>
                      <a:pPr lvl="0" indent="0" marL="0">
                        <a:buNone/>
                      </a:pPr>
                      <a:r>
                        <a:rPr/>
                        <a:t>—</a:t>
                      </a:r>
                    </a:p>
                  </a:txBody>
                </a:tc>
              </a:tr>
            </a:tbl>
          </a:graphicData>
        </a:graphic>
      </p:graphicFrame>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Sketching mental models</a:t>
            </a:r>
          </a:p>
        </p:txBody>
      </p:sp>
      <p:sp>
        <p:nvSpPr>
          <p:cNvPr id="3" name="Content Placeholder 2"/>
          <p:cNvSpPr>
            <a:spLocks noGrp="1"/>
          </p:cNvSpPr>
          <p:nvPr>
            <p:ph idx="1"/>
          </p:nvPr>
        </p:nvSpPr>
        <p:spPr/>
        <p:txBody>
          <a:bodyPr/>
          <a:lstStyle/>
          <a:p>
            <a:pPr lvl="0" indent="0" marL="0">
              <a:buNone/>
            </a:pPr>
          </a:p>
          <a:p>
            <a:pPr lvl="0" indent="-457189" marL="457189">
              <a:buAutoNum type="arabicPeriod"/>
            </a:pPr>
            <a:r>
              <a:rPr b="1"/>
              <a:t>Pick a topic</a:t>
            </a:r>
            <a:r>
              <a:rPr/>
              <a:t> from open research (</a:t>
            </a:r>
            <a:r>
              <a:rPr i="1"/>
              <a:t>different from open access</a:t>
            </a:r>
            <a:r>
              <a:rPr/>
              <a:t>).</a:t>
            </a:r>
          </a:p>
          <a:p>
            <a:pPr lvl="0" indent="-457189" marL="457189">
              <a:buAutoNum type="arabicPeriod"/>
            </a:pPr>
            <a:r>
              <a:rPr b="1"/>
              <a:t>Sketch out</a:t>
            </a:r>
            <a:r>
              <a:rPr/>
              <a:t> the mental model of a novice in comparison to a competent practitioner and/or an expert.</a:t>
            </a:r>
          </a:p>
          <a:p>
            <a:pPr lvl="0" indent="-457189" marL="457189">
              <a:buAutoNum type="arabicPeriod"/>
            </a:pPr>
            <a:r>
              <a:rPr b="1"/>
              <a:t>Provide at least two concrete examples</a:t>
            </a:r>
            <a:r>
              <a:rPr/>
              <a:t> of how the organization of knowledge differs among these types of learners.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a:t>
            </a:r>
          </a:p>
        </p:txBody>
      </p:sp>
      <p:sp>
        <p:nvSpPr>
          <p:cNvPr id="3" name="Content Placeholder 2"/>
          <p:cNvSpPr>
            <a:spLocks noGrp="1"/>
          </p:cNvSpPr>
          <p:nvPr>
            <p:ph idx="1"/>
          </p:nvPr>
        </p:nvSpPr>
        <p:spPr/>
        <p:txBody>
          <a:bodyPr/>
          <a:lstStyle/>
          <a:p>
            <a:pPr lvl="0"/>
            <a:r>
              <a:rPr b="1"/>
              <a:t>Didactics</a:t>
            </a:r>
            <a:r>
              <a:rPr/>
              <a:t> = </a:t>
            </a:r>
            <a:r>
              <a:rPr b="1"/>
              <a:t>planning and organizing</a:t>
            </a:r>
            <a:r>
              <a:rPr/>
              <a:t> successful processes of learners’ learning</a:t>
            </a:r>
          </a:p>
          <a:p>
            <a:pPr lvl="0"/>
            <a:r>
              <a:rPr b="1"/>
              <a:t>Learning</a:t>
            </a:r>
            <a:r>
              <a:rPr/>
              <a:t> = learners actively </a:t>
            </a:r>
            <a:r>
              <a:rPr b="1"/>
              <a:t>construct knowledge</a:t>
            </a:r>
            <a:r>
              <a:rPr/>
              <a:t> through prior knowledge and context rather than passively receive information (</a:t>
            </a:r>
            <a:r>
              <a:rPr b="1"/>
              <a:t>constructivism</a:t>
            </a:r>
            <a:r>
              <a:rPr/>
              <a:t>)</a:t>
            </a:r>
          </a:p>
          <a:p>
            <a:pPr lvl="0"/>
            <a:r>
              <a:rPr/>
              <a:t>With increasing </a:t>
            </a:r>
            <a:r>
              <a:rPr b="1"/>
              <a:t>expertise</a:t>
            </a:r>
            <a:r>
              <a:rPr/>
              <a:t> mental models of specific skills become more </a:t>
            </a:r>
            <a:r>
              <a:rPr b="1"/>
              <a:t>connected</a:t>
            </a:r>
          </a:p>
          <a:p>
            <a:pPr lvl="0"/>
            <a:r>
              <a:rPr/>
              <a:t>Effective teaching </a:t>
            </a:r>
            <a:r>
              <a:rPr b="1"/>
              <a:t>builds</a:t>
            </a:r>
            <a:r>
              <a:rPr/>
              <a:t> on learners’ existing knowledge and supports their </a:t>
            </a:r>
            <a:r>
              <a:rPr b="1"/>
              <a:t>progression from novice to competent practitioner to expert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would help you organize your knowledge?</a:t>
            </a:r>
          </a:p>
        </p:txBody>
      </p:sp>
      <p:sp>
        <p:nvSpPr>
          <p:cNvPr id="3" name="Content Placeholder 2"/>
          <p:cNvSpPr>
            <a:spLocks noGrp="1"/>
          </p:cNvSpPr>
          <p:nvPr>
            <p:ph idx="1"/>
          </p:nvPr>
        </p:nvSpPr>
        <p:spPr/>
        <p:txBody>
          <a:bodyPr/>
          <a:lstStyle/>
          <a:p>
            <a:pPr lvl="0" indent="0" marL="0">
              <a:buNone/>
            </a:pPr>
            <a:r>
              <a:rPr/>
              <a:t>Is there something that you are </a:t>
            </a:r>
            <a:r>
              <a:rPr b="1"/>
              <a:t>currently learning how to do</a:t>
            </a:r>
            <a:r>
              <a:rPr/>
              <a:t>?  Can you identify things that would help you with </a:t>
            </a:r>
            <a:r>
              <a:rPr b="1"/>
              <a:t>organizing your mental model</a:t>
            </a:r>
            <a:r>
              <a:rPr/>
              <a:t> during a workshop?</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Think (3 min)</a:t>
            </a:r>
          </a:p>
          <a:p>
            <a:pPr lvl="0"/>
            <a:r>
              <a:rPr/>
              <a:t>For yourself: Collect some thoughts for yourself.</a:t>
            </a:r>
          </a:p>
        </p:txBody>
      </p:sp>
      <p:sp>
        <p:nvSpPr>
          <p:cNvPr id="4" name="Content Placeholder 3"/>
          <p:cNvSpPr>
            <a:spLocks noGrp="1"/>
          </p:cNvSpPr>
          <p:nvPr>
            <p:ph idx="2" sz="half"/>
          </p:nvPr>
        </p:nvSpPr>
        <p:spPr/>
        <p:txBody>
          <a:bodyPr/>
          <a:lstStyle/>
          <a:p>
            <a:pPr lvl="0" indent="0" marL="0">
              <a:spcBef>
                <a:spcPts val="3000"/>
              </a:spcBef>
              <a:buNone/>
            </a:pPr>
            <a:r>
              <a:rPr b="1"/>
              <a:t>Pair (4 min)</a:t>
            </a:r>
          </a:p>
          <a:p>
            <a:pPr lvl="0"/>
            <a:r>
              <a:rPr/>
              <a:t>Discuss your  thoughts with your neighbor.</a:t>
            </a:r>
          </a:p>
        </p:txBody>
      </p:sp>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Enhancing the organization of knowledge as an instructor</a:t>
            </a:r>
          </a:p>
          <a:p>
            <a:pPr lvl="0" indent="0" marL="0">
              <a:buNone/>
            </a:pPr>
            <a:r>
              <a:rPr/>
              <a:t>Some strategies …</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Provide learners with a </a:t>
            </a:r>
            <a:r>
              <a:rPr b="1"/>
              <a:t>big picture</a:t>
            </a:r>
            <a:r>
              <a:rPr/>
              <a:t> or outline of your workshop/course</a:t>
            </a:r>
          </a:p>
          <a:p>
            <a:pPr lvl="0"/>
            <a:r>
              <a:rPr/>
              <a:t>Clearly </a:t>
            </a:r>
            <a:r>
              <a:rPr b="1"/>
              <a:t>lay out expectations or objectives</a:t>
            </a:r>
            <a:r>
              <a:rPr/>
              <a:t> for a session</a:t>
            </a:r>
          </a:p>
          <a:p>
            <a:pPr lvl="0"/>
            <a:r>
              <a:rPr/>
              <a:t>Create </a:t>
            </a:r>
            <a:r>
              <a:rPr b="1"/>
              <a:t>opportunities</a:t>
            </a:r>
            <a:r>
              <a:rPr/>
              <a:t> to </a:t>
            </a:r>
            <a:r>
              <a:rPr b="1"/>
              <a:t>discover</a:t>
            </a:r>
            <a:r>
              <a:rPr/>
              <a:t> learners’ prior knowledge</a:t>
            </a:r>
          </a:p>
          <a:p>
            <a:pPr lvl="0"/>
            <a:r>
              <a:rPr b="1"/>
              <a:t>Make connections</a:t>
            </a:r>
            <a:r>
              <a:rPr/>
              <a:t> between concepts </a:t>
            </a:r>
            <a:r>
              <a:rPr b="1"/>
              <a:t>explicit</a:t>
            </a:r>
          </a:p>
          <a:p>
            <a:pPr lvl="1"/>
            <a:r>
              <a:rPr/>
              <a:t>Encourage learners to make these connections </a:t>
            </a:r>
            <a:r>
              <a:rPr b="1"/>
              <a:t>themselves</a:t>
            </a:r>
            <a:r>
              <a:rPr/>
              <a:t> (sorting tasks, concept maps)</a:t>
            </a:r>
          </a:p>
          <a:p>
            <a:pPr lvl="0"/>
            <a:r>
              <a:rPr b="1"/>
              <a:t>Monitor</a:t>
            </a:r>
            <a:r>
              <a:rPr/>
              <a:t> learners’ work </a:t>
            </a:r>
            <a:r>
              <a:rPr b="1"/>
              <a:t>for problems</a:t>
            </a:r>
            <a:r>
              <a:rPr/>
              <a:t> in their knowledge organization or mental model, e.g., add assessment tasks or progress trackers</a:t>
            </a:r>
          </a:p>
          <a:p>
            <a:pPr lvl="0"/>
            <a:r>
              <a:rPr/>
              <a:t>Provide direction through clear </a:t>
            </a:r>
            <a:r>
              <a:rPr b="1"/>
              <a:t>learning objectives</a:t>
            </a:r>
          </a:p>
        </p:txBody>
      </p:sp>
      <p:pic>
        <p:nvPicPr>
          <p:cNvPr descr="images/picture-in-picture.png" id="0" name="Picture 1"/>
          <p:cNvPicPr>
            <a:picLocks noGrp="1" noChangeAspect="1"/>
          </p:cNvPicPr>
          <p:nvPr/>
        </p:nvPicPr>
        <p:blipFill>
          <a:blip r:embed="rId3"/>
          <a:stretch>
            <a:fillRect/>
          </a:stretch>
        </p:blipFill>
        <p:spPr bwMode="auto">
          <a:xfrm>
            <a:off x="6629400" y="1600200"/>
            <a:ext cx="4521200" cy="45212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you (as the instructor) going?</a:t>
            </a:r>
          </a:p>
        </p:txBody>
      </p:sp>
      <p:pic>
        <p:nvPicPr>
          <p:cNvPr descr="images/setting-learning-goals-alice.png" id="0" name="Picture 1"/>
          <p:cNvPicPr>
            <a:picLocks noGrp="1" noChangeAspect="1"/>
          </p:cNvPicPr>
          <p:nvPr/>
        </p:nvPicPr>
        <p:blipFill>
          <a:blip r:embed="rId3"/>
          <a:stretch>
            <a:fillRect/>
          </a:stretch>
        </p:blipFill>
        <p:spPr bwMode="auto">
          <a:xfrm>
            <a:off x="2070100" y="1600200"/>
            <a:ext cx="80645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A definition</a:t>
            </a:r>
          </a:p>
        </p:txBody>
      </p:sp>
      <p:sp>
        <p:nvSpPr>
          <p:cNvPr id="3" name="Content Placeholder 2"/>
          <p:cNvSpPr>
            <a:spLocks noGrp="1"/>
          </p:cNvSpPr>
          <p:nvPr>
            <p:ph idx="1"/>
          </p:nvPr>
        </p:nvSpPr>
        <p:spPr/>
        <p:txBody>
          <a:bodyPr/>
          <a:lstStyle/>
          <a:p>
            <a:pPr lvl="0" indent="0" marL="0">
              <a:buNone/>
            </a:pPr>
          </a:p>
          <a:p>
            <a:pPr lvl="0" indent="0" marL="0">
              <a:buNone/>
            </a:pPr>
            <a:r>
              <a:rPr/>
              <a:t>“… describes what </a:t>
            </a:r>
            <a:r>
              <a:rPr b="1"/>
              <a:t>learners should be able to do</a:t>
            </a:r>
            <a:r>
              <a:rPr/>
              <a:t> after instruction and should specify the </a:t>
            </a:r>
            <a:r>
              <a:rPr b="1"/>
              <a:t>intended performance</a:t>
            </a:r>
            <a:r>
              <a:rPr/>
              <a:t>, </a:t>
            </a:r>
            <a:r>
              <a:rPr b="1"/>
              <a:t>conditions</a:t>
            </a:r>
            <a:r>
              <a:rPr/>
              <a:t>, and </a:t>
            </a:r>
            <a:r>
              <a:rPr b="1"/>
              <a:t>criteria for success</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“Hierarchy” of learning objectives</a:t>
            </a:r>
          </a:p>
        </p:txBody>
      </p:sp>
      <p:sp>
        <p:nvSpPr>
          <p:cNvPr id="3" name="Content Placeholder 2"/>
          <p:cNvSpPr>
            <a:spLocks noGrp="1"/>
          </p:cNvSpPr>
          <p:nvPr>
            <p:ph idx="1" sz="half"/>
          </p:nvPr>
        </p:nvSpPr>
        <p:spPr/>
        <p:txBody>
          <a:bodyPr/>
          <a:lstStyle/>
          <a:p>
            <a:pPr lvl="0" indent="0" marL="1270000">
              <a:buNone/>
            </a:pPr>
            <a:r>
              <a:rPr sz="2000"/>
              <a:t>What is the </a:t>
            </a:r>
            <a:r>
              <a:rPr sz="2000" b="1"/>
              <a:t>general objective</a:t>
            </a:r>
            <a:r>
              <a:rPr sz="2000"/>
              <a:t> of this course?</a:t>
            </a:r>
          </a:p>
          <a:p>
            <a:pPr lvl="0" indent="0" marL="1270000">
              <a:buNone/>
            </a:pPr>
            <a:r>
              <a:rPr sz="2000"/>
              <a:t>What are </a:t>
            </a:r>
            <a:r>
              <a:rPr sz="2000" b="1"/>
              <a:t>specific individual learning objectives</a:t>
            </a:r>
            <a:r>
              <a:rPr sz="2000"/>
              <a:t> within the course?</a:t>
            </a:r>
          </a:p>
        </p:txBody>
      </p:sp>
      <p:pic>
        <p:nvPicPr>
          <p:cNvPr descr="images/objectives-hierarchy.png" id="0" name="Picture 1"/>
          <p:cNvPicPr>
            <a:picLocks noGrp="1" noChangeAspect="1"/>
          </p:cNvPicPr>
          <p:nvPr/>
        </p:nvPicPr>
        <p:blipFill>
          <a:blip r:embed="rId3"/>
          <a:stretch>
            <a:fillRect/>
          </a:stretch>
        </p:blipFill>
        <p:spPr bwMode="auto">
          <a:xfrm>
            <a:off x="6197600" y="2349500"/>
            <a:ext cx="5384800" cy="30226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Constructive alignment</a:t>
            </a:r>
          </a:p>
        </p:txBody>
      </p:sp>
      <p:sp>
        <p:nvSpPr>
          <p:cNvPr id="3" name="Content Placeholder 2"/>
          <p:cNvSpPr>
            <a:spLocks noGrp="1"/>
          </p:cNvSpPr>
          <p:nvPr>
            <p:ph idx="1" sz="half"/>
          </p:nvPr>
        </p:nvSpPr>
        <p:spPr/>
        <p:txBody>
          <a:bodyPr/>
          <a:lstStyle/>
          <a:p>
            <a:pPr lvl="0" indent="0" marL="1270000">
              <a:buNone/>
            </a:pPr>
            <a:r>
              <a:rPr sz="2000"/>
              <a:t>Focus on </a:t>
            </a:r>
            <a:r>
              <a:rPr sz="2000" b="1"/>
              <a:t>learning objectives</a:t>
            </a:r>
            <a:r>
              <a:rPr sz="2000"/>
              <a:t>: what do we want our learners to </a:t>
            </a:r>
            <a:r>
              <a:rPr sz="2000" b="1"/>
              <a:t>achieve</a:t>
            </a:r>
            <a:r>
              <a:rPr sz="2000"/>
              <a:t>?</a:t>
            </a:r>
          </a:p>
        </p:txBody>
      </p:sp>
      <p:pic>
        <p:nvPicPr>
          <p:cNvPr descr="images/constructive-alignment.png" id="0" name="Picture 1"/>
          <p:cNvPicPr>
            <a:picLocks noGrp="1" noChangeAspect="1"/>
          </p:cNvPicPr>
          <p:nvPr/>
        </p:nvPicPr>
        <p:blipFill>
          <a:blip r:embed="rId3"/>
          <a:stretch>
            <a:fillRect/>
          </a:stretch>
        </p:blipFill>
        <p:spPr bwMode="auto">
          <a:xfrm>
            <a:off x="6197600" y="2603500"/>
            <a:ext cx="5384800" cy="25019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Constructive alignment</a:t>
            </a:r>
          </a:p>
        </p:txBody>
      </p:sp>
      <p:sp>
        <p:nvSpPr>
          <p:cNvPr id="3" name="Content Placeholder 2"/>
          <p:cNvSpPr>
            <a:spLocks noGrp="1"/>
          </p:cNvSpPr>
          <p:nvPr>
            <p:ph idx="1" sz="half"/>
          </p:nvPr>
        </p:nvSpPr>
        <p:spPr/>
        <p:txBody>
          <a:bodyPr/>
          <a:lstStyle/>
          <a:p>
            <a:pPr lvl="0" indent="0" marL="1270000">
              <a:buNone/>
            </a:pPr>
            <a:r>
              <a:rPr sz="2000"/>
              <a:t>Example in an </a:t>
            </a:r>
            <a:r>
              <a:rPr sz="2000" b="1"/>
              <a:t>Open Research</a:t>
            </a:r>
            <a:r>
              <a:rPr sz="2000"/>
              <a:t> context</a:t>
            </a:r>
          </a:p>
        </p:txBody>
      </p:sp>
      <p:pic>
        <p:nvPicPr>
          <p:cNvPr descr="images/constructive-alignment-preprint-example.png" id="0" name="Picture 1"/>
          <p:cNvPicPr>
            <a:picLocks noGrp="1" noChangeAspect="1"/>
          </p:cNvPicPr>
          <p:nvPr/>
        </p:nvPicPr>
        <p:blipFill>
          <a:blip r:embed="rId3"/>
          <a:stretch>
            <a:fillRect/>
          </a:stretch>
        </p:blipFill>
        <p:spPr bwMode="auto">
          <a:xfrm>
            <a:off x="6197600" y="2590800"/>
            <a:ext cx="5384800" cy="2540000"/>
          </a:xfrm>
          <a:prstGeom prst="rect">
            <a:avLst/>
          </a:prstGeom>
          <a:noFill/>
          <a:ln w="9525">
            <a:noFill/>
            <a:headEnd/>
            <a:tailEnd/>
          </a:ln>
        </p:spPr>
      </p:pic>
      <p:sp>
        <p:nvSpPr>
          <p:cNvPr id="6" name="Date Placeholder 5">
            <a:extLst>
              <a:ext uri="{FF2B5EF4-FFF2-40B4-BE49-F238E27FC236}">
                <a16:creationId xmlns:a16="http://schemas.microsoft.com/office/drawing/2014/main" id="{DB9C105D-2DC4-B9F4-C1FE-2CAFAE38DB0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B6159A58-99BB-FD20-30B4-B65A749EE7DB}"/>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91EB764C-C70A-BBB6-D634-50E6464DB304}"/>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Matching learning objectives and assessment types</a:t>
            </a:r>
          </a:p>
        </p:txBody>
      </p:sp>
      <p:sp>
        <p:nvSpPr>
          <p:cNvPr id="3" name="Content Placeholder 2"/>
          <p:cNvSpPr>
            <a:spLocks noGrp="1"/>
          </p:cNvSpPr>
          <p:nvPr>
            <p:ph idx="1"/>
          </p:nvPr>
        </p:nvSpPr>
        <p:spPr/>
        <p:txBody>
          <a:bodyPr/>
          <a:lstStyle/>
          <a:p>
            <a:pPr lvl="0" indent="0" marL="0">
              <a:buNone/>
            </a:pPr>
          </a:p>
          <a:p>
            <a:pPr lvl="0" indent="0" marL="0">
              <a:buNone/>
            </a:pPr>
            <a:r>
              <a:rPr/>
              <a:t>On the following slide, match each </a:t>
            </a:r>
            <a:r>
              <a:rPr b="1"/>
              <a:t>learning objective</a:t>
            </a:r>
            <a:r>
              <a:rPr/>
              <a:t> with an </a:t>
            </a:r>
            <a:r>
              <a:rPr b="1"/>
              <a:t>assessment task</a:t>
            </a:r>
            <a:r>
              <a:rPr/>
              <a:t> and reflect the following:</a:t>
            </a:r>
          </a:p>
          <a:p>
            <a:pPr lvl="0"/>
            <a:r>
              <a:rPr b="1"/>
              <a:t>Why</a:t>
            </a:r>
            <a:r>
              <a:rPr/>
              <a:t> does the assessment task </a:t>
            </a:r>
            <a:r>
              <a:rPr b="1"/>
              <a:t>fit</a:t>
            </a:r>
            <a:r>
              <a:rPr/>
              <a:t> the specific learning objective?</a:t>
            </a:r>
          </a:p>
          <a:p>
            <a:pPr lvl="0"/>
            <a:r>
              <a:rPr/>
              <a:t>Which </a:t>
            </a:r>
            <a:r>
              <a:rPr b="1"/>
              <a:t>teaching activities</a:t>
            </a:r>
            <a:r>
              <a:rPr/>
              <a:t> can you think of that would align with the learning objective and the corresponding assessment task?</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activity</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4699000"/>
                <a:gridCol w="6273800"/>
              </a:tblGrid>
              <a:tr h="0">
                <a:tc>
                  <a:txBody>
                    <a:bodyPr/>
                    <a:lstStyle/>
                    <a:p>
                      <a:pPr lvl="0" indent="0" marL="0">
                        <a:buNone/>
                      </a:pPr>
                      <a:r>
                        <a:rPr/>
                        <a:t>Learning objective</a:t>
                      </a:r>
                    </a:p>
                  </a:txBody>
                  <a:tcPr/>
                </a:tc>
                <a:tc>
                  <a:txBody>
                    <a:bodyPr/>
                    <a:lstStyle/>
                    <a:p>
                      <a:pPr lvl="0" indent="0" marL="0">
                        <a:buNone/>
                      </a:pPr>
                      <a:r>
                        <a:rPr/>
                        <a:t>Assessment task</a:t>
                      </a:r>
                    </a:p>
                  </a:txBody>
                  <a:tcPr/>
                </a:tc>
              </a:tr>
              <a:tr h="0">
                <a:tc>
                  <a:txBody>
                    <a:bodyPr/>
                    <a:lstStyle/>
                    <a:p>
                      <a:pPr lvl="0" indent="0" marL="0">
                        <a:buNone/>
                      </a:pPr>
                      <a:r>
                        <a:rPr/>
                        <a:t>A: </a:t>
                      </a:r>
                      <a:r>
                        <a:rPr i="1"/>
                        <a:t>Create</a:t>
                      </a:r>
                      <a:r>
                        <a:rPr/>
                        <a:t> a reproducible research pipeline</a:t>
                      </a:r>
                    </a:p>
                  </a:txBody>
                </a:tc>
                <a:tc>
                  <a:txBody>
                    <a:bodyPr/>
                    <a:lstStyle/>
                    <a:p>
                      <a:pPr lvl="0" indent="0" marL="0">
                        <a:buNone/>
                      </a:pPr>
                      <a:r>
                        <a:rPr/>
                        <a:t>1: Hand in a brief essay on Green open access along with two ethical benefits and two challenges</a:t>
                      </a:r>
                    </a:p>
                  </a:txBody>
                </a:tc>
              </a:tr>
              <a:tr h="0">
                <a:tc>
                  <a:txBody>
                    <a:bodyPr/>
                    <a:lstStyle/>
                    <a:p>
                      <a:pPr lvl="0" indent="0" marL="0">
                        <a:buNone/>
                      </a:pPr>
                      <a:r>
                        <a:rPr/>
                        <a:t>B: </a:t>
                      </a:r>
                      <a:r>
                        <a:rPr i="1"/>
                        <a:t>Apply</a:t>
                      </a:r>
                      <a:r>
                        <a:rPr/>
                        <a:t> FAIR data principles to a dataset</a:t>
                      </a:r>
                    </a:p>
                  </a:txBody>
                </a:tc>
                <a:tc>
                  <a:txBody>
                    <a:bodyPr/>
                    <a:lstStyle/>
                    <a:p>
                      <a:pPr lvl="0" indent="0" marL="0">
                        <a:buNone/>
                      </a:pPr>
                      <a:r>
                        <a:rPr/>
                        <a:t>2: Generate a GitHub project and add project documentation (README)</a:t>
                      </a:r>
                    </a:p>
                  </a:txBody>
                </a:tc>
              </a:tr>
              <a:tr h="0">
                <a:tc>
                  <a:txBody>
                    <a:bodyPr/>
                    <a:lstStyle/>
                    <a:p>
                      <a:pPr lvl="0" indent="0" marL="0">
                        <a:buNone/>
                      </a:pPr>
                      <a:r>
                        <a:rPr/>
                        <a:t>C: </a:t>
                      </a:r>
                      <a:r>
                        <a:rPr i="1"/>
                        <a:t>Analyze</a:t>
                      </a:r>
                      <a:r>
                        <a:rPr/>
                        <a:t> reproducibility issues in published studies</a:t>
                      </a:r>
                    </a:p>
                  </a:txBody>
                </a:tc>
                <a:tc>
                  <a:txBody>
                    <a:bodyPr/>
                    <a:lstStyle/>
                    <a:p>
                      <a:pPr lvl="0" indent="0" marL="0">
                        <a:buNone/>
                      </a:pPr>
                      <a:r>
                        <a:rPr/>
                        <a:t>3: Create a metadata record that is machine-readable</a:t>
                      </a:r>
                    </a:p>
                  </a:txBody>
                </a:tc>
              </a:tr>
              <a:tr h="0">
                <a:tc>
                  <a:txBody>
                    <a:bodyPr/>
                    <a:lstStyle/>
                    <a:p>
                      <a:pPr lvl="0" indent="0" marL="0">
                        <a:buNone/>
                      </a:pPr>
                      <a:r>
                        <a:rPr/>
                        <a:t>D: </a:t>
                      </a:r>
                      <a:r>
                        <a:rPr i="1"/>
                        <a:t>Understand</a:t>
                      </a:r>
                      <a:r>
                        <a:rPr/>
                        <a:t> ethical implications of open access</a:t>
                      </a:r>
                    </a:p>
                  </a:txBody>
                </a:tc>
                <a:tc>
                  <a:txBody>
                    <a:bodyPr/>
                    <a:lstStyle/>
                    <a:p>
                      <a:pPr lvl="0" indent="0" marL="0">
                        <a:buNone/>
                      </a:pPr>
                      <a:r>
                        <a:rPr/>
                        <a:t>4: Write a critical review of the methods section of an open access paper</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Formulating learning objectives</a:t>
            </a:r>
          </a:p>
        </p:txBody>
      </p:sp>
      <p:pic>
        <p:nvPicPr>
          <p:cNvPr descr="images/formulating-learning-objectives.png" id="0" name="Picture 1"/>
          <p:cNvPicPr>
            <a:picLocks noGrp="1" noChangeAspect="1"/>
          </p:cNvPicPr>
          <p:nvPr/>
        </p:nvPicPr>
        <p:blipFill>
          <a:blip r:embed="rId3"/>
          <a:stretch>
            <a:fillRect/>
          </a:stretch>
        </p:blipFill>
        <p:spPr bwMode="auto">
          <a:xfrm>
            <a:off x="2082800" y="1600200"/>
            <a:ext cx="8039100" cy="4521200"/>
          </a:xfrm>
          <a:prstGeom prst="rect">
            <a:avLst/>
          </a:prstGeom>
          <a:noFill/>
          <a:ln w="9525">
            <a:noFill/>
            <a:headEnd/>
            <a:tailEnd/>
          </a:ln>
        </p:spPr>
      </p:pic>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domains of learning</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3289300"/>
                <a:gridCol w="7683500"/>
              </a:tblGrid>
              <a:tr h="0">
                <a:tc>
                  <a:txBody>
                    <a:bodyPr/>
                    <a:lstStyle/>
                    <a:p>
                      <a:pPr lvl="0" indent="0" marL="0" algn="l">
                        <a:buNone/>
                      </a:pPr>
                      <a:r>
                        <a:rPr/>
                        <a:t>Learning domain</a:t>
                      </a:r>
                    </a:p>
                  </a:txBody>
                  <a:tcPr/>
                </a:tc>
                <a:tc>
                  <a:txBody>
                    <a:bodyPr/>
                    <a:lstStyle/>
                    <a:p>
                      <a:pPr lvl="0" indent="0" marL="0" algn="l">
                        <a:buNone/>
                      </a:pPr>
                      <a:r>
                        <a:rPr/>
                        <a:t>Learning focus</a:t>
                      </a:r>
                    </a:p>
                  </a:txBody>
                  <a:tcPr/>
                </a:tc>
              </a:tr>
              <a:tr h="0">
                <a:tc>
                  <a:txBody>
                    <a:bodyPr/>
                    <a:lstStyle/>
                    <a:p>
                      <a:pPr lvl="0" indent="0" marL="0" algn="l">
                        <a:buNone/>
                      </a:pPr>
                      <a:r>
                        <a:rPr b="1"/>
                        <a:t>Cognitive</a:t>
                      </a:r>
                    </a:p>
                  </a:txBody>
                </a:tc>
                <a:tc>
                  <a:txBody>
                    <a:bodyPr/>
                    <a:lstStyle/>
                    <a:p>
                      <a:pPr lvl="0" indent="0" marL="0" algn="l">
                        <a:buNone/>
                      </a:pPr>
                      <a:r>
                        <a:rPr/>
                        <a:t>Knowledge or thinking skills</a:t>
                      </a:r>
                    </a:p>
                  </a:txBody>
                </a:tc>
              </a:tr>
              <a:tr h="0">
                <a:tc>
                  <a:txBody>
                    <a:bodyPr/>
                    <a:lstStyle/>
                    <a:p>
                      <a:pPr lvl="0" indent="0" marL="0" algn="l">
                        <a:buNone/>
                      </a:pPr>
                      <a:r>
                        <a:rPr b="1"/>
                        <a:t>Affective</a:t>
                      </a:r>
                    </a:p>
                  </a:txBody>
                </a:tc>
                <a:tc>
                  <a:txBody>
                    <a:bodyPr/>
                    <a:lstStyle/>
                    <a:p>
                      <a:pPr lvl="0" indent="0" marL="0" algn="l">
                        <a:buNone/>
                      </a:pPr>
                      <a:r>
                        <a:rPr/>
                        <a:t>Growth in feelings or emotional areas (attitude or self), values</a:t>
                      </a:r>
                    </a:p>
                  </a:txBody>
                </a:tc>
              </a:tr>
              <a:tr h="0">
                <a:tc>
                  <a:txBody>
                    <a:bodyPr/>
                    <a:lstStyle/>
                    <a:p>
                      <a:pPr lvl="0" indent="0" marL="0" algn="l">
                        <a:buNone/>
                      </a:pPr>
                      <a:r>
                        <a:rPr b="1"/>
                        <a:t>Psychomotor</a:t>
                      </a:r>
                    </a:p>
                  </a:txBody>
                </a:tc>
                <a:tc>
                  <a:txBody>
                    <a:bodyPr/>
                    <a:lstStyle/>
                    <a:p>
                      <a:pPr lvl="0" indent="0" marL="0" algn="l">
                        <a:buNone/>
                      </a:pPr>
                      <a:r>
                        <a:rPr/>
                        <a:t>Manual or physical skills, change in behaviors</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Cognitive domain</a:t>
            </a:r>
          </a:p>
          <a:p>
            <a:pPr lvl="0"/>
            <a:r>
              <a:rPr b="1"/>
              <a:t>Learning</a:t>
            </a:r>
            <a:r>
              <a:rPr/>
              <a:t> is focused on expanding or building up </a:t>
            </a:r>
            <a:r>
              <a:rPr b="1"/>
              <a:t>knowledge and thinking skills</a:t>
            </a:r>
            <a:r>
              <a:rPr/>
              <a:t> as a learning outcome</a:t>
            </a:r>
          </a:p>
          <a:p>
            <a:pPr lvl="0"/>
            <a:r>
              <a:rPr/>
              <a:t>Widely implemented in education and typically connected to </a:t>
            </a:r>
            <a:r>
              <a:rPr b="1"/>
              <a:t>Bloom’s taxonomy</a:t>
            </a:r>
          </a:p>
          <a:p>
            <a:pPr lvl="0"/>
            <a:r>
              <a:rPr i="1"/>
              <a:t>Example</a:t>
            </a:r>
            <a:r>
              <a:rPr/>
              <a:t>:</a:t>
            </a:r>
          </a:p>
          <a:p>
            <a:pPr lvl="1"/>
            <a:r>
              <a:rPr b="1"/>
              <a:t>Learning objective</a:t>
            </a:r>
            <a:r>
              <a:rPr/>
              <a:t>: Learners will be able to analyze how open science practices improve research transparency and reproducibility</a:t>
            </a:r>
          </a:p>
          <a:p>
            <a:pPr lvl="1"/>
            <a:r>
              <a:rPr b="1"/>
              <a:t>Teaching activity</a:t>
            </a:r>
            <a:r>
              <a:rPr/>
              <a:t>: Evaluation and comparisons of reproducible and non-reproducible research workflows or published studies in groups</a:t>
            </a:r>
          </a:p>
          <a:p>
            <a:pPr lvl="1"/>
            <a:r>
              <a:rPr b="1"/>
              <a:t>Assessment task</a:t>
            </a:r>
            <a:r>
              <a:rPr/>
              <a:t>: Group presentation discussing strengths, limitations, and transparency of selected research practices or publications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Cognitive domain</a:t>
            </a:r>
          </a:p>
        </p:txBody>
      </p:sp>
      <p:pic>
        <p:nvPicPr>
          <p:cNvPr descr="images/cognitive-domain.png" id="0" name="Picture 1"/>
          <p:cNvPicPr>
            <a:picLocks noGrp="1" noChangeAspect="1"/>
          </p:cNvPicPr>
          <p:nvPr/>
        </p:nvPicPr>
        <p:blipFill>
          <a:blip r:embed="rId3"/>
          <a:stretch>
            <a:fillRect/>
          </a:stretch>
        </p:blipFill>
        <p:spPr bwMode="auto">
          <a:xfrm>
            <a:off x="4902200" y="1435100"/>
            <a:ext cx="65151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Affective domain</a:t>
            </a:r>
          </a:p>
          <a:p>
            <a:pPr lvl="0"/>
            <a:r>
              <a:rPr b="1"/>
              <a:t>Learning</a:t>
            </a:r>
            <a:r>
              <a:rPr/>
              <a:t> is focused on identifying and developing </a:t>
            </a:r>
            <a:r>
              <a:rPr b="1"/>
              <a:t>attitudes and values</a:t>
            </a:r>
            <a:r>
              <a:rPr/>
              <a:t> of learners as learning outcome</a:t>
            </a:r>
          </a:p>
          <a:p>
            <a:pPr lvl="0"/>
            <a:r>
              <a:rPr/>
              <a:t>Difficult to measure directly, but can be assessed through </a:t>
            </a:r>
            <a:r>
              <a:rPr i="1"/>
              <a:t>observable behaviors</a:t>
            </a:r>
            <a:r>
              <a:rPr/>
              <a:t> (e.g., appreciation, showing commitment, awareness of nuances)</a:t>
            </a:r>
          </a:p>
          <a:p>
            <a:pPr lvl="0"/>
            <a:r>
              <a:rPr i="1"/>
              <a:t>Example</a:t>
            </a:r>
            <a:r>
              <a:rPr/>
              <a:t>:</a:t>
            </a:r>
          </a:p>
          <a:p>
            <a:pPr lvl="1"/>
            <a:r>
              <a:rPr b="1"/>
              <a:t>Learning objective</a:t>
            </a:r>
            <a:r>
              <a:rPr/>
              <a:t>: Learners will actively engage with differing views on the pros and cons of preregistration by asking clarifying questions and incorporating at least one alternative viewpoint into their own arguments</a:t>
            </a:r>
          </a:p>
          <a:p>
            <a:pPr lvl="1"/>
            <a:r>
              <a:rPr b="1"/>
              <a:t>Teaching activity</a:t>
            </a:r>
            <a:r>
              <a:rPr/>
              <a:t>: Learners participate in a panel discussion in which they argue either the benefits or the limitations of preregistration in scientific research.</a:t>
            </a:r>
          </a:p>
          <a:p>
            <a:pPr lvl="1"/>
            <a:r>
              <a:rPr b="1"/>
              <a:t>Assessment task</a:t>
            </a:r>
            <a:r>
              <a:rPr/>
              <a:t>: Learners write a reflection essay in which they summarize the arguments presented during the discussion and reflect on how considering both the advantages and disadvantages of preregistration influenced their own perspective on open science practices.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Affective domain</a:t>
            </a:r>
          </a:p>
        </p:txBody>
      </p:sp>
      <p:pic>
        <p:nvPicPr>
          <p:cNvPr descr="images/affective-domain.png" id="0" name="Picture 1"/>
          <p:cNvPicPr>
            <a:picLocks noGrp="1" noChangeAspect="1"/>
          </p:cNvPicPr>
          <p:nvPr/>
        </p:nvPicPr>
        <p:blipFill>
          <a:blip r:embed="rId3"/>
          <a:stretch>
            <a:fillRect/>
          </a:stretch>
        </p:blipFill>
        <p:spPr bwMode="auto">
          <a:xfrm>
            <a:off x="5029200" y="1435100"/>
            <a:ext cx="62738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Psychomotor domain</a:t>
            </a:r>
          </a:p>
          <a:p>
            <a:pPr lvl="0"/>
            <a:r>
              <a:rPr b="1"/>
              <a:t>Learning</a:t>
            </a:r>
            <a:r>
              <a:rPr/>
              <a:t> is focused on implementing, expanding and building </a:t>
            </a:r>
            <a:r>
              <a:rPr b="1"/>
              <a:t>physical skills and behaviors</a:t>
            </a:r>
            <a:r>
              <a:rPr/>
              <a:t>, .e.g., through physical movement, coordination and motor skills as learning outcomes (e.g., measured in terms of speed, precision or technical execution)</a:t>
            </a:r>
          </a:p>
          <a:p>
            <a:pPr lvl="0"/>
            <a:r>
              <a:rPr i="1"/>
              <a:t>Example</a:t>
            </a:r>
            <a:r>
              <a:rPr/>
              <a:t>:</a:t>
            </a:r>
          </a:p>
          <a:p>
            <a:pPr lvl="1"/>
            <a:r>
              <a:rPr b="1"/>
              <a:t>Learning objective</a:t>
            </a:r>
            <a:r>
              <a:rPr/>
              <a:t>: Learners will accurately upload, document, and share a research dataset in an open repository using appropriate metadata and licensing practices.</a:t>
            </a:r>
          </a:p>
          <a:p>
            <a:pPr lvl="1"/>
            <a:r>
              <a:rPr b="1"/>
              <a:t>Teaching activity</a:t>
            </a:r>
            <a:r>
              <a:rPr/>
              <a:t>: Hands-on workshop where learners practice preparing metadata, selecting appropriate licenses and uploading to an open repository.</a:t>
            </a:r>
          </a:p>
          <a:p>
            <a:pPr lvl="1"/>
            <a:r>
              <a:rPr b="1"/>
              <a:t>Assessment task</a:t>
            </a:r>
            <a:r>
              <a:rPr/>
              <a:t>: Each learner independently uploads a dataset and accompanying documentation to a repository with a suitable license.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Psychomotor domain</a:t>
            </a:r>
          </a:p>
        </p:txBody>
      </p:sp>
      <p:pic>
        <p:nvPicPr>
          <p:cNvPr descr="images/psychomotor-domain.png" id="0" name="Picture 1"/>
          <p:cNvPicPr>
            <a:picLocks noGrp="1" noChangeAspect="1"/>
          </p:cNvPicPr>
          <p:nvPr/>
        </p:nvPicPr>
        <p:blipFill>
          <a:blip r:embed="rId3"/>
          <a:stretch>
            <a:fillRect/>
          </a:stretch>
        </p:blipFill>
        <p:spPr bwMode="auto">
          <a:xfrm>
            <a:off x="5105400" y="1435100"/>
            <a:ext cx="6121400" cy="4686300"/>
          </a:xfrm>
          <a:prstGeom prst="rect">
            <a:avLst/>
          </a:prstGeom>
          <a:noFill/>
          <a:ln w="9525">
            <a:noFill/>
            <a:headEnd/>
            <a:tailEnd/>
          </a:ln>
        </p:spPr>
      </p:pic>
      <p:sp>
        <p:nvSpPr>
          <p:cNvPr id="6" name="Date Placeholder 5">
            <a:extLst>
              <a:ext uri="{FF2B5EF4-FFF2-40B4-BE49-F238E27FC236}">
                <a16:creationId xmlns:a16="http://schemas.microsoft.com/office/drawing/2014/main" id="{4D4823E0-4AC4-556E-D341-7EC0B24627F1}"/>
              </a:ext>
            </a:extLst>
          </p:cNvPr>
          <p:cNvSpPr>
            <a:spLocks noGrp="1"/>
          </p:cNvSpPr>
          <p:nvPr>
            <p:ph idx="10" sz="half" type="dt"/>
          </p:nvPr>
        </p:nvSpPr>
        <p:spPr/>
        <p:txBody>
          <a:bodyPr/>
          <a:lstStyle/>
          <a:p>
            <a:pPr algn="ctr"/>
            <a:r>
              <a:rPr lang="en-US"/>
              <a:t>19/10/2026</a:t>
            </a:r>
            <a:endParaRPr dirty="0" lang="en-US"/>
          </a:p>
        </p:txBody>
      </p:sp>
      <p:sp>
        <p:nvSpPr>
          <p:cNvPr id="7" name="Footer Placeholder 6">
            <a:extLst>
              <a:ext uri="{FF2B5EF4-FFF2-40B4-BE49-F238E27FC236}">
                <a16:creationId xmlns:a16="http://schemas.microsoft.com/office/drawing/2014/main" id="{DA033808-7DA7-BCE5-7841-A080B9791E38}"/>
              </a:ext>
            </a:extLst>
          </p:cNvPr>
          <p:cNvSpPr>
            <a:spLocks noGrp="1"/>
          </p:cNvSpPr>
          <p:nvPr>
            <p:ph idx="11" sz="quarter" type="ftr"/>
          </p:nvPr>
        </p:nvSpPr>
        <p:spPr/>
        <p:txBody>
          <a:bodyPr/>
          <a:lstStyle/>
          <a:p>
            <a:r>
              <a:rPr lang="en-US"/>
              <a:t>© LMU Open Science Center</a:t>
            </a:r>
            <a:endParaRPr dirty="0" lang="en-US"/>
          </a:p>
        </p:txBody>
      </p:sp>
      <p:sp>
        <p:nvSpPr>
          <p:cNvPr id="11" name="Slide Number Placeholder 10">
            <a:extLst>
              <a:ext uri="{FF2B5EF4-FFF2-40B4-BE49-F238E27FC236}">
                <a16:creationId xmlns:a16="http://schemas.microsoft.com/office/drawing/2014/main" id="{F114B9F3-9BDF-91CE-CDEA-A368776345DA}"/>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Learning objectives within learning domains</a:t>
            </a:r>
          </a:p>
        </p:txBody>
      </p:sp>
      <p:graphicFrame>
        <p:nvGraphicFramePr>
          <p:cNvPr id="6" name="Content Placeholder 5"/>
          <p:cNvGraphicFramePr>
            <a:graphicFrameLocks noGrp="1"/>
          </p:cNvGraphicFramePr>
          <p:nvPr>
            <p:ph idx="1"/>
          </p:nvPr>
        </p:nvGraphicFramePr>
        <p:xfrm>
          <a:off x="609600" y="1600200"/>
          <a:ext cx="10972800" cy="4521200"/>
        </p:xfrm>
        <a:graphic>
          <a:graphicData uri="http://schemas.openxmlformats.org/drawingml/2006/table">
            <a:tbl>
              <a:tblPr firstRow="1" bandRow="1">
                <a:tableStyleId>{5C22544A-7EE6-4342-B048-85BDC9FD1C3A}</a:tableStyleId>
              </a:tblPr>
              <a:tblGrid>
                <a:gridCol w="3657600"/>
                <a:gridCol w="3657600"/>
                <a:gridCol w="3657600"/>
              </a:tblGrid>
              <a:tr h="0">
                <a:tc>
                  <a:txBody>
                    <a:bodyPr/>
                    <a:lstStyle/>
                    <a:p>
                      <a:pPr lvl="0" indent="0" marL="0" algn="ctr">
                        <a:buNone/>
                      </a:pPr>
                      <a:r>
                        <a:rPr/>
                        <a:t>cognitive</a:t>
                      </a:r>
                    </a:p>
                  </a:txBody>
                  <a:tcPr/>
                </a:tc>
                <a:tc>
                  <a:txBody>
                    <a:bodyPr/>
                    <a:lstStyle/>
                    <a:p>
                      <a:pPr lvl="0" indent="0" marL="0" algn="ctr">
                        <a:buNone/>
                      </a:pPr>
                      <a:r>
                        <a:rPr/>
                        <a:t>affective</a:t>
                      </a:r>
                    </a:p>
                  </a:txBody>
                  <a:tcPr/>
                </a:tc>
                <a:tc>
                  <a:txBody>
                    <a:bodyPr/>
                    <a:lstStyle/>
                    <a:p>
                      <a:pPr lvl="0" indent="0" marL="0" algn="ctr">
                        <a:buNone/>
                      </a:pPr>
                      <a:r>
                        <a:rPr/>
                        <a:t>psychomotor</a:t>
                      </a:r>
                    </a:p>
                  </a:txBody>
                  <a:tcPr/>
                </a:tc>
              </a:tr>
              <a:tr h="0">
                <a:tc>
                  <a:txBody>
                    <a:bodyPr/>
                    <a:lstStyle/>
                    <a:p>
                      <a:endParaRPr/>
                    </a:p>
                  </a:txBody>
                </a:tc>
                <a:tc>
                  <a:txBody>
                    <a:bodyPr/>
                    <a:lstStyle/>
                    <a:p>
                      <a:endParaRPr/>
                    </a:p>
                  </a:txBody>
                </a:tc>
                <a:tc>
                  <a:txBody>
                    <a:bodyPr/>
                    <a:lstStyle/>
                    <a:p>
                      <a:pPr lvl="0" indent="0" marL="0" algn="ctr">
                        <a:buNone/>
                      </a:pPr>
                      <a:r>
                        <a:rPr/>
                        <a:t>origination</a:t>
                      </a:r>
                    </a:p>
                  </a:txBody>
                </a:tc>
              </a:tr>
              <a:tr h="0">
                <a:tc>
                  <a:txBody>
                    <a:bodyPr/>
                    <a:lstStyle/>
                    <a:p>
                      <a:pPr lvl="0" indent="0" marL="0" algn="ctr">
                        <a:buNone/>
                      </a:pPr>
                      <a:r>
                        <a:rPr/>
                        <a:t>create</a:t>
                      </a:r>
                    </a:p>
                  </a:txBody>
                </a:tc>
                <a:tc>
                  <a:txBody>
                    <a:bodyPr/>
                    <a:lstStyle/>
                    <a:p>
                      <a:endParaRPr/>
                    </a:p>
                  </a:txBody>
                </a:tc>
                <a:tc>
                  <a:txBody>
                    <a:bodyPr/>
                    <a:lstStyle/>
                    <a:p>
                      <a:pPr lvl="0" indent="0" marL="0" algn="ctr">
                        <a:buNone/>
                      </a:pPr>
                      <a:r>
                        <a:rPr/>
                        <a:t>adaptation</a:t>
                      </a:r>
                    </a:p>
                  </a:txBody>
                </a:tc>
              </a:tr>
              <a:tr h="0">
                <a:tc>
                  <a:txBody>
                    <a:bodyPr/>
                    <a:lstStyle/>
                    <a:p>
                      <a:pPr lvl="0" indent="0" marL="0" algn="ctr">
                        <a:buNone/>
                      </a:pPr>
                      <a:r>
                        <a:rPr/>
                        <a:t>evaluate</a:t>
                      </a:r>
                    </a:p>
                  </a:txBody>
                </a:tc>
                <a:tc>
                  <a:txBody>
                    <a:bodyPr/>
                    <a:lstStyle/>
                    <a:p>
                      <a:pPr lvl="0" indent="0" marL="0" algn="ctr">
                        <a:buNone/>
                      </a:pPr>
                      <a:r>
                        <a:rPr/>
                        <a:t>characterizing</a:t>
                      </a:r>
                    </a:p>
                  </a:txBody>
                </a:tc>
                <a:tc>
                  <a:txBody>
                    <a:bodyPr/>
                    <a:lstStyle/>
                    <a:p>
                      <a:pPr lvl="0" indent="0" marL="0" algn="ctr">
                        <a:buNone/>
                      </a:pPr>
                      <a:r>
                        <a:rPr/>
                        <a:t>complex overt response</a:t>
                      </a:r>
                    </a:p>
                  </a:txBody>
                </a:tc>
              </a:tr>
              <a:tr h="0">
                <a:tc>
                  <a:txBody>
                    <a:bodyPr/>
                    <a:lstStyle/>
                    <a:p>
                      <a:pPr lvl="0" indent="0" marL="0" algn="ctr">
                        <a:buNone/>
                      </a:pPr>
                      <a:r>
                        <a:rPr/>
                        <a:t>analyze</a:t>
                      </a:r>
                    </a:p>
                  </a:txBody>
                </a:tc>
                <a:tc>
                  <a:txBody>
                    <a:bodyPr/>
                    <a:lstStyle/>
                    <a:p>
                      <a:pPr lvl="0" indent="0" marL="0" algn="ctr">
                        <a:buNone/>
                      </a:pPr>
                      <a:r>
                        <a:rPr/>
                        <a:t>organizing</a:t>
                      </a:r>
                    </a:p>
                  </a:txBody>
                </a:tc>
                <a:tc>
                  <a:txBody>
                    <a:bodyPr/>
                    <a:lstStyle/>
                    <a:p>
                      <a:pPr lvl="0" indent="0" marL="0" algn="ctr">
                        <a:buNone/>
                      </a:pPr>
                      <a:r>
                        <a:rPr/>
                        <a:t>mechanism</a:t>
                      </a:r>
                    </a:p>
                  </a:txBody>
                </a:tc>
              </a:tr>
              <a:tr h="0">
                <a:tc>
                  <a:txBody>
                    <a:bodyPr/>
                    <a:lstStyle/>
                    <a:p>
                      <a:pPr lvl="0" indent="0" marL="0" algn="ctr">
                        <a:buNone/>
                      </a:pPr>
                      <a:r>
                        <a:rPr/>
                        <a:t>apply</a:t>
                      </a:r>
                    </a:p>
                  </a:txBody>
                </a:tc>
                <a:tc>
                  <a:txBody>
                    <a:bodyPr/>
                    <a:lstStyle/>
                    <a:p>
                      <a:pPr lvl="0" indent="0" marL="0" algn="ctr">
                        <a:buNone/>
                      </a:pPr>
                      <a:r>
                        <a:rPr/>
                        <a:t>valuing</a:t>
                      </a:r>
                    </a:p>
                  </a:txBody>
                </a:tc>
                <a:tc>
                  <a:txBody>
                    <a:bodyPr/>
                    <a:lstStyle/>
                    <a:p>
                      <a:pPr lvl="0" indent="0" marL="0" algn="ctr">
                        <a:buNone/>
                      </a:pPr>
                      <a:r>
                        <a:rPr/>
                        <a:t>guided response</a:t>
                      </a:r>
                    </a:p>
                  </a:txBody>
                </a:tc>
              </a:tr>
              <a:tr h="0">
                <a:tc>
                  <a:txBody>
                    <a:bodyPr/>
                    <a:lstStyle/>
                    <a:p>
                      <a:pPr lvl="0" indent="0" marL="0" algn="ctr">
                        <a:buNone/>
                      </a:pPr>
                      <a:r>
                        <a:rPr/>
                        <a:t>understand</a:t>
                      </a:r>
                    </a:p>
                  </a:txBody>
                </a:tc>
                <a:tc>
                  <a:txBody>
                    <a:bodyPr/>
                    <a:lstStyle/>
                    <a:p>
                      <a:pPr lvl="0" indent="0" marL="0" algn="ctr">
                        <a:buNone/>
                      </a:pPr>
                      <a:r>
                        <a:rPr/>
                        <a:t>responding</a:t>
                      </a:r>
                    </a:p>
                  </a:txBody>
                </a:tc>
                <a:tc>
                  <a:txBody>
                    <a:bodyPr/>
                    <a:lstStyle/>
                    <a:p>
                      <a:pPr lvl="0" indent="0" marL="0" algn="ctr">
                        <a:buNone/>
                      </a:pPr>
                      <a:r>
                        <a:rPr/>
                        <a:t>set</a:t>
                      </a:r>
                    </a:p>
                  </a:txBody>
                </a:tc>
              </a:tr>
              <a:tr h="0">
                <a:tc>
                  <a:txBody>
                    <a:bodyPr/>
                    <a:lstStyle/>
                    <a:p>
                      <a:pPr lvl="0" indent="0" marL="0" algn="ctr">
                        <a:buNone/>
                      </a:pPr>
                      <a:r>
                        <a:rPr/>
                        <a:t>remember</a:t>
                      </a:r>
                    </a:p>
                  </a:txBody>
                </a:tc>
                <a:tc>
                  <a:txBody>
                    <a:bodyPr/>
                    <a:lstStyle/>
                    <a:p>
                      <a:pPr lvl="0" indent="0" marL="0" algn="ctr">
                        <a:buNone/>
                      </a:pPr>
                      <a:r>
                        <a:rPr/>
                        <a:t>receiving</a:t>
                      </a:r>
                    </a:p>
                  </a:txBody>
                </a:tc>
                <a:tc>
                  <a:txBody>
                    <a:bodyPr/>
                    <a:lstStyle/>
                    <a:p>
                      <a:pPr lvl="0" indent="0" marL="0" algn="ctr">
                        <a:buNone/>
                      </a:pPr>
                      <a:r>
                        <a:rPr/>
                        <a:t>perception</a:t>
                      </a:r>
                    </a:p>
                  </a:txBody>
                </a:tc>
              </a:tr>
            </a:tbl>
          </a:graphicData>
        </a:graphic>
      </p:graphicFrame>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Designing assessment tasks</a:t>
            </a:r>
          </a:p>
        </p:txBody>
      </p:sp>
      <p:sp>
        <p:nvSpPr>
          <p:cNvPr id="3" name="Content Placeholder 2"/>
          <p:cNvSpPr>
            <a:spLocks noGrp="1"/>
          </p:cNvSpPr>
          <p:nvPr>
            <p:ph idx="1"/>
          </p:nvPr>
        </p:nvSpPr>
        <p:spPr/>
        <p:txBody>
          <a:bodyPr/>
          <a:lstStyle/>
          <a:p>
            <a:pPr lvl="0" indent="0" marL="0">
              <a:buNone/>
            </a:pPr>
            <a:r>
              <a:rPr/>
              <a:t>You are tasked to design a course module on Open Research practices and would like to include a lesson on open access publishing.  </a:t>
            </a:r>
            <a:r>
              <a:rPr b="1"/>
              <a:t>Design one assessment task</a:t>
            </a:r>
            <a:r>
              <a:rPr/>
              <a:t> and </a:t>
            </a:r>
            <a:r>
              <a:rPr b="1"/>
              <a:t>define one observable metric</a:t>
            </a:r>
            <a:r>
              <a:rPr/>
              <a:t> of successfully achieving the learning objective for each </a:t>
            </a:r>
            <a:r>
              <a:rPr b="1"/>
              <a:t>learning domain</a:t>
            </a:r>
            <a:r>
              <a:rPr/>
              <a:t> below.</a:t>
            </a:r>
          </a:p>
          <a:p>
            <a:pPr lvl="0"/>
            <a:r>
              <a:rPr b="1"/>
              <a:t>Cognitive domain</a:t>
            </a:r>
            <a:r>
              <a:rPr/>
              <a:t>: Learners will be able to compare different open access publishing models, e.g., Gold, Green and Diamond Open Access and critically assess their advantages and limitations.</a:t>
            </a:r>
          </a:p>
          <a:p>
            <a:pPr lvl="0"/>
            <a:r>
              <a:rPr b="1"/>
              <a:t>Affective domain</a:t>
            </a:r>
            <a:r>
              <a:rPr/>
              <a:t>: Learners will critically reflect on the benefits and challenges of open access publishing and demonstrate openness toward differing perspectives on accessibility and publication costs.</a:t>
            </a:r>
          </a:p>
          <a:p>
            <a:pPr lvl="0"/>
            <a:r>
              <a:rPr b="1"/>
              <a:t>Psychomotor domain</a:t>
            </a:r>
            <a:r>
              <a:rPr/>
              <a:t>: Learners will accurately upload a manuscript to an open access repository and correctly apply metadata and an appropriate license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Formulating learning objectives and assessment methods</a:t>
            </a:r>
          </a:p>
        </p:txBody>
      </p:sp>
      <p:sp>
        <p:nvSpPr>
          <p:cNvPr id="3" name="Content Placeholder 2"/>
          <p:cNvSpPr>
            <a:spLocks noGrp="1"/>
          </p:cNvSpPr>
          <p:nvPr>
            <p:ph idx="1"/>
          </p:nvPr>
        </p:nvSpPr>
        <p:spPr/>
        <p:txBody>
          <a:bodyPr/>
          <a:lstStyle/>
          <a:p>
            <a:pPr lvl="0" indent="-457189" marL="457189">
              <a:buAutoNum type="arabicPeriod"/>
            </a:pPr>
            <a:r>
              <a:rPr b="1"/>
              <a:t>Navigate</a:t>
            </a:r>
            <a:r>
              <a:rPr/>
              <a:t> to the following online tutorial: </a:t>
            </a:r>
            <a:r>
              <a:rPr>
                <a:hlinkClick r:id="rId3"/>
              </a:rPr>
              <a:t>https://lmu-osc.github.io/introduction-to-zotero/</a:t>
            </a:r>
            <a:r>
              <a:rPr/>
              <a:t>.</a:t>
            </a:r>
          </a:p>
          <a:p>
            <a:pPr lvl="0" indent="-457189" marL="457189">
              <a:buAutoNum type="arabicPeriod"/>
            </a:pPr>
            <a:r>
              <a:rPr b="1"/>
              <a:t>Skim over</a:t>
            </a:r>
            <a:r>
              <a:rPr/>
              <a:t> the different sections using the navigation menu or the arrows at the bottom of the page to get an idea of the content of the tutorial.</a:t>
            </a:r>
          </a:p>
          <a:p>
            <a:pPr lvl="0" indent="-457189" marL="457189">
              <a:buAutoNum type="arabicPeriod"/>
            </a:pPr>
            <a:r>
              <a:rPr/>
              <a:t>Using Bloom’s taxonomy, </a:t>
            </a:r>
            <a:r>
              <a:rPr b="1"/>
              <a:t>formulate two learning objectives</a:t>
            </a:r>
            <a:r>
              <a:rPr/>
              <a:t> and </a:t>
            </a:r>
            <a:r>
              <a:rPr b="1"/>
              <a:t>assessment methods</a:t>
            </a:r>
            <a:r>
              <a:rPr/>
              <a:t> that match the content and the teaching activities of the tutorial. Consider the following: Which level of Bloom’s taxonomy are you at and which domain are you targeting?</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Learning in an </a:t>
            </a:r>
            <a:r>
              <a:rPr b="1"/>
              <a:t>active process</a:t>
            </a:r>
            <a:r>
              <a:rPr/>
              <a:t>, integrated in a larger </a:t>
            </a:r>
            <a:r>
              <a:rPr b="1"/>
              <a:t>context</a:t>
            </a:r>
            <a:r>
              <a:rPr/>
              <a:t> and strongly shaped by </a:t>
            </a:r>
            <a:r>
              <a:rPr b="1"/>
              <a:t>prior knowledge and beliefs</a:t>
            </a:r>
            <a:r>
              <a:rPr/>
              <a:t> (</a:t>
            </a:r>
            <a:r>
              <a:rPr b="1"/>
              <a:t>= constructivism</a:t>
            </a:r>
            <a:r>
              <a:rPr/>
              <a:t>)</a:t>
            </a:r>
          </a:p>
          <a:p>
            <a:pPr lvl="0"/>
            <a:r>
              <a:rPr/>
              <a:t>Different learners differ in their </a:t>
            </a:r>
            <a:r>
              <a:rPr b="1"/>
              <a:t>organization of prior knowledge</a:t>
            </a:r>
            <a:r>
              <a:rPr/>
              <a:t>: </a:t>
            </a:r>
            <a:r>
              <a:rPr i="1"/>
              <a:t>experts</a:t>
            </a:r>
            <a:r>
              <a:rPr/>
              <a:t> have more connections and short-cuts among pieces of knowledge</a:t>
            </a:r>
          </a:p>
          <a:p>
            <a:pPr lvl="0"/>
            <a:r>
              <a:rPr/>
              <a:t>Ensuring that </a:t>
            </a:r>
            <a:r>
              <a:rPr b="1"/>
              <a:t>learning objectives</a:t>
            </a:r>
            <a:r>
              <a:rPr/>
              <a:t>, the </a:t>
            </a:r>
            <a:r>
              <a:rPr b="1"/>
              <a:t>assessment tasks</a:t>
            </a:r>
            <a:r>
              <a:rPr/>
              <a:t> and the </a:t>
            </a:r>
            <a:r>
              <a:rPr b="1"/>
              <a:t>teaching activities</a:t>
            </a:r>
            <a:r>
              <a:rPr/>
              <a:t> </a:t>
            </a:r>
            <a:r>
              <a:rPr b="1"/>
              <a:t>align</a:t>
            </a:r>
            <a:r>
              <a:rPr/>
              <a:t> is key for a successful learning process (</a:t>
            </a:r>
            <a:r>
              <a:rPr b="1"/>
              <a:t>= constructive alignment</a:t>
            </a:r>
            <a:r>
              <a:rPr/>
              <a:t>)</a:t>
            </a:r>
          </a:p>
          <a:p>
            <a:pPr lvl="0"/>
            <a:r>
              <a:rPr/>
              <a:t>Before teaching, we need to know </a:t>
            </a:r>
            <a:r>
              <a:rPr i="1"/>
              <a:t>where we are going</a:t>
            </a:r>
            <a:r>
              <a:rPr/>
              <a:t>, i.e., </a:t>
            </a:r>
            <a:r>
              <a:rPr b="1"/>
              <a:t>formulate learning objectives</a:t>
            </a:r>
            <a:r>
              <a:rPr/>
              <a:t> according to the fitting learning domain(s): </a:t>
            </a:r>
            <a:r>
              <a:rPr b="1"/>
              <a:t>cognitive, affective</a:t>
            </a:r>
            <a:r>
              <a:rPr/>
              <a:t>, possibly psychomotor (sometimes overlapping!)</a:t>
            </a:r>
          </a:p>
          <a:p>
            <a:pPr lvl="0" indent="0" marL="1270000">
              <a:buNone/>
            </a:pPr>
            <a:r>
              <a:rPr sz="2000" b="1"/>
              <a:t>The formulation matters!</a:t>
            </a:r>
          </a:p>
          <a:p>
            <a:pPr lvl="0" indent="0" marL="1270000">
              <a:buNone/>
            </a:pPr>
            <a:r>
              <a:rPr sz="2000"/>
              <a:t>Place a particular </a:t>
            </a:r>
            <a:r>
              <a:rPr sz="2000" b="1"/>
              <a:t>emphasis on the verbs</a:t>
            </a:r>
            <a:r>
              <a:rPr sz="2000"/>
              <a:t> when formulating learning objectives!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Survey time!</a:t>
            </a:r>
          </a:p>
        </p:txBody>
      </p:sp>
      <p:sp>
        <p:nvSpPr>
          <p:cNvPr id="3" name="Content Placeholder 2"/>
          <p:cNvSpPr>
            <a:spLocks noGrp="1"/>
          </p:cNvSpPr>
          <p:nvPr>
            <p:ph idx="1"/>
          </p:nvPr>
        </p:nvSpPr>
        <p:spPr/>
        <p:txBody>
          <a:bodyPr/>
          <a:lstStyle/>
          <a:p>
            <a:pPr lvl="0" indent="0" marL="0">
              <a:spcBef>
                <a:spcPts val="3000"/>
              </a:spcBef>
              <a:buNone/>
            </a:pPr>
            <a:r>
              <a:rPr b="1"/>
              <a:t>Survey time! (Question 1)</a:t>
            </a:r>
          </a:p>
          <a:p>
            <a:pPr lvl="0" indent="0" marL="0">
              <a:buNone/>
            </a:pPr>
            <a:r>
              <a:rPr b="1"/>
              <a:t>Which of the following concepts or skills do you now feel most confident about in relation to didactics and teaching? (Select all that apply)</a:t>
            </a:r>
          </a:p>
          <a:p>
            <a:pPr lvl="0" indent="-457189" marL="457189">
              <a:buAutoNum type="alphaLcPeriod"/>
            </a:pPr>
            <a:r>
              <a:rPr/>
              <a:t>Considering the learner’s prior knowledge in the learning process</a:t>
            </a:r>
          </a:p>
          <a:p>
            <a:pPr lvl="0" indent="-457189" marL="457189">
              <a:buAutoNum type="alphaLcPeriod"/>
            </a:pPr>
            <a:r>
              <a:rPr/>
              <a:t>Constructivism</a:t>
            </a:r>
          </a:p>
          <a:p>
            <a:pPr lvl="0" indent="-457189" marL="457189">
              <a:buAutoNum type="alphaLcPeriod"/>
            </a:pPr>
            <a:r>
              <a:rPr/>
              <a:t>Constructive alignment</a:t>
            </a:r>
          </a:p>
          <a:p>
            <a:pPr lvl="0" indent="-457189" marL="457189">
              <a:buAutoNum type="alphaLcPeriod"/>
            </a:pPr>
            <a:r>
              <a:rPr/>
              <a:t>Mental model of skills acquisition</a:t>
            </a:r>
          </a:p>
          <a:p>
            <a:pPr lvl="0" indent="-457189" marL="457189">
              <a:buAutoNum type="alphaLcPeriod"/>
            </a:pPr>
            <a:r>
              <a:rPr/>
              <a:t>Formulating clear learning objectives</a:t>
            </a:r>
          </a:p>
          <a:p>
            <a:pPr lvl="0" indent="-457189" marL="457189">
              <a:buAutoNum type="alphaLcPeriod"/>
            </a:pPr>
            <a:r>
              <a:rPr/>
              <a:t>None of the above</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Survey time! (Question 2)</a:t>
            </a:r>
          </a:p>
          <a:p>
            <a:pPr lvl="0" indent="0" marL="0">
              <a:buNone/>
            </a:pPr>
            <a:r>
              <a:rPr b="1"/>
              <a:t>What is your level of confidence now with the mental model of skills acquisition, on a scale from 1 - 5?</a:t>
            </a:r>
            <a:r>
              <a:rPr/>
              <a:t> </a:t>
            </a:r>
            <a:r>
              <a:rPr i="1"/>
              <a:t>(1 = not confident at all, 5 = extremely confident)</a:t>
            </a:r>
          </a:p>
          <a:p>
            <a:pPr lvl="0" indent="-457189" marL="457189">
              <a:buAutoNum type="alphaLcPeriod"/>
            </a:pPr>
            <a:r>
              <a:rPr/>
              <a:t>5</a:t>
            </a:r>
          </a:p>
          <a:p>
            <a:pPr lvl="0" indent="-457189" marL="457189">
              <a:buAutoNum type="alphaLcPeriod"/>
            </a:pPr>
            <a:r>
              <a:rPr/>
              <a:t>4</a:t>
            </a:r>
          </a:p>
          <a:p>
            <a:pPr lvl="0" indent="-457189" marL="457189">
              <a:buAutoNum type="alphaLcPeriod"/>
            </a:pPr>
            <a:r>
              <a:rPr/>
              <a:t>3</a:t>
            </a:r>
          </a:p>
          <a:p>
            <a:pPr lvl="0" indent="-457189" marL="457189">
              <a:buAutoNum type="alphaLcPeriod"/>
            </a:pPr>
            <a:r>
              <a:rPr/>
              <a:t>2</a:t>
            </a:r>
          </a:p>
          <a:p>
            <a:pPr lvl="0" indent="-457189" marL="457189">
              <a:buAutoNum type="alphaLcPeriod"/>
            </a:pPr>
            <a:r>
              <a:rPr/>
              <a:t>1</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Survey time! (Question 3)</a:t>
            </a:r>
          </a:p>
          <a:p>
            <a:pPr lvl="0" indent="0" marL="0">
              <a:buNone/>
            </a:pPr>
            <a:r>
              <a:rPr b="1"/>
              <a:t>What is your level of confidence with the three learning domains (cognitive, affective and psychomotor), on a scale from 1 - 5?</a:t>
            </a:r>
            <a:r>
              <a:rPr/>
              <a:t> </a:t>
            </a:r>
            <a:r>
              <a:rPr i="1"/>
              <a:t>(1 = not confident at all, 5 = extremely confident)</a:t>
            </a:r>
          </a:p>
          <a:p>
            <a:pPr lvl="0" indent="-457189" marL="457189">
              <a:buAutoNum type="alphaLcPeriod"/>
            </a:pPr>
            <a:r>
              <a:rPr/>
              <a:t>5</a:t>
            </a:r>
          </a:p>
          <a:p>
            <a:pPr lvl="0" indent="-457189" marL="457189">
              <a:buAutoNum type="alphaLcPeriod"/>
            </a:pPr>
            <a:r>
              <a:rPr/>
              <a:t>4</a:t>
            </a:r>
          </a:p>
          <a:p>
            <a:pPr lvl="0" indent="-457189" marL="457189">
              <a:buAutoNum type="alphaLcPeriod"/>
            </a:pPr>
            <a:r>
              <a:rPr/>
              <a:t>3</a:t>
            </a:r>
          </a:p>
          <a:p>
            <a:pPr lvl="0" indent="-457189" marL="457189">
              <a:buAutoNum type="alphaLcPeriod"/>
            </a:pPr>
            <a:r>
              <a:rPr/>
              <a:t>2</a:t>
            </a:r>
          </a:p>
          <a:p>
            <a:pPr lvl="0" indent="-457189" marL="457189">
              <a:buAutoNum type="alphaLcPeriod"/>
            </a:pPr>
            <a:r>
              <a:rPr/>
              <a:t>1</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 - looking back</a:t>
            </a:r>
          </a:p>
        </p:txBody>
      </p:sp>
      <p:sp>
        <p:nvSpPr>
          <p:cNvPr id="3" name="Content Placeholder 2"/>
          <p:cNvSpPr>
            <a:spLocks noGrp="1"/>
          </p:cNvSpPr>
          <p:nvPr>
            <p:ph idx="1"/>
          </p:nvPr>
        </p:nvSpPr>
        <p:spPr/>
        <p:txBody>
          <a:bodyPr/>
          <a:lstStyle/>
          <a:p>
            <a:pPr lvl="0" indent="0" marL="0">
              <a:buNone/>
            </a:pPr>
            <a:r>
              <a:rPr/>
              <a:t>At the end of this session, you now…</a:t>
            </a:r>
          </a:p>
          <a:p>
            <a:pPr lvl="0"/>
            <a:r>
              <a:rPr b="1"/>
              <a:t>Remember</a:t>
            </a:r>
            <a:r>
              <a:rPr/>
              <a:t> basic didactic concepts as the foundation for learning success✅</a:t>
            </a:r>
          </a:p>
          <a:p>
            <a:pPr lvl="0"/>
            <a:r>
              <a:rPr b="1"/>
              <a:t>Explain</a:t>
            </a:r>
            <a:r>
              <a:rPr/>
              <a:t> and </a:t>
            </a:r>
            <a:r>
              <a:rPr b="1"/>
              <a:t>compare</a:t>
            </a:r>
            <a:r>
              <a:rPr/>
              <a:t> how knowledge can be organized depending on the level of expertise✅</a:t>
            </a:r>
          </a:p>
          <a:p>
            <a:pPr lvl="0"/>
            <a:r>
              <a:rPr b="1"/>
              <a:t>Evaluate</a:t>
            </a:r>
            <a:r>
              <a:rPr/>
              <a:t> the alignment between learning objectives, assessment types and teaching activities✅</a:t>
            </a:r>
          </a:p>
          <a:p>
            <a:pPr lvl="0"/>
            <a:r>
              <a:rPr b="1"/>
              <a:t>Formulate</a:t>
            </a:r>
            <a:r>
              <a:rPr/>
              <a:t> concrete learning objectives according to specific learning domains for real-world content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Anderson, L. W., &amp; Krathwohl, D. R. (2001). A taxonomy for learning, teaching, and assessing : A revision of Bloom’s taxonomy of educational objectives: Complete edition. In </a:t>
            </a:r>
            <a:r>
              <a:rPr i="1"/>
              <a:t>787904</a:t>
            </a:r>
            <a:r>
              <a:rPr/>
              <a:t>. Addison Wesley Longman.</a:t>
            </a:r>
          </a:p>
          <a:p>
            <a:pPr lvl="0" indent="0" marL="0">
              <a:buNone/>
            </a:pPr>
            <a:r>
              <a:rPr/>
              <a:t>Biggs, J. (1996). Enhancing teaching through constructive alignment. </a:t>
            </a:r>
            <a:r>
              <a:rPr i="1"/>
              <a:t>Higher Education</a:t>
            </a:r>
            <a:r>
              <a:rPr/>
              <a:t>, </a:t>
            </a:r>
            <a:r>
              <a:rPr i="1"/>
              <a:t>32</a:t>
            </a:r>
            <a:r>
              <a:rPr/>
              <a:t>(3), 347–364. </a:t>
            </a:r>
            <a:r>
              <a:rPr>
                <a:hlinkClick r:id="rId2"/>
              </a:rPr>
              <a:t>https://doi.org/10.1007/BF00138871</a:t>
            </a:r>
          </a:p>
          <a:p>
            <a:pPr lvl="0" indent="0" marL="0">
              <a:buNone/>
            </a:pPr>
            <a:r>
              <a:rPr/>
              <a:t>Bloom, B. S., Engelhart, M. D., Furst, E. J., Hill, W. H., Krathwohl, D. R., et al. (1964). </a:t>
            </a:r>
            <a:r>
              <a:rPr i="1"/>
              <a:t>Taxonomy of educational objectives</a:t>
            </a:r>
            <a:r>
              <a:rPr/>
              <a:t> (Vol. 2). Longmans, Green New York.</a:t>
            </a:r>
          </a:p>
          <a:p>
            <a:pPr lvl="0" indent="0" marL="0">
              <a:buNone/>
            </a:pPr>
            <a:r>
              <a:rPr/>
              <a:t>Casasola Rivera, W. (2020). El papel de la didáctica en los procesos de enseñanza y aprendizaje universitarios. </a:t>
            </a:r>
            <a:r>
              <a:rPr i="1"/>
              <a:t>Revista Comunicación</a:t>
            </a:r>
            <a:r>
              <a:rPr/>
              <a:t>, </a:t>
            </a:r>
            <a:r>
              <a:rPr i="1"/>
              <a:t>29</a:t>
            </a:r>
            <a:r>
              <a:rPr/>
              <a:t>(1-2020), 38–51. </a:t>
            </a:r>
            <a:r>
              <a:rPr>
                <a:hlinkClick r:id="rId3"/>
              </a:rPr>
              <a:t>https://doi.org/10.18845/rc.v29i1-2020.5258</a:t>
            </a:r>
          </a:p>
          <a:p>
            <a:pPr lvl="0" indent="0" marL="0">
              <a:buNone/>
            </a:pPr>
            <a:r>
              <a:rPr/>
              <a:t>Dave, R. (1970). </a:t>
            </a:r>
            <a:r>
              <a:rPr i="1"/>
              <a:t>Developing and writing behavioural objectives</a:t>
            </a:r>
            <a:r>
              <a:rPr/>
              <a:t>. Educational Innovators Press.</a:t>
            </a:r>
          </a:p>
          <a:p>
            <a:pPr lvl="0" indent="0" marL="0">
              <a:buNone/>
            </a:pPr>
            <a:r>
              <a:rPr/>
              <a:t>Harrow, A. J. (1972). </a:t>
            </a:r>
            <a:r>
              <a:rPr i="1"/>
              <a:t>A taxonomy of the psychomotor domain: A guide for developing behavioral objectives</a:t>
            </a:r>
            <a:r>
              <a:rPr/>
              <a:t>. Longman.</a:t>
            </a:r>
          </a:p>
          <a:p>
            <a:pPr lvl="0" indent="0" marL="0">
              <a:buNone/>
            </a:pPr>
            <a:r>
              <a:rPr/>
              <a:t>Krathwohl, D. R., Bloom, B., Masia, B. B., et al. (1964). </a:t>
            </a:r>
            <a:r>
              <a:rPr i="1"/>
              <a:t>Taxonomy of educational objectives</a:t>
            </a:r>
            <a:r>
              <a:rPr/>
              <a:t> (Vol. 2). David McKay Company.</a:t>
            </a:r>
          </a:p>
          <a:p>
            <a:pPr lvl="0" indent="0" marL="0">
              <a:buNone/>
            </a:pPr>
            <a:r>
              <a:rPr/>
              <a:t>Lovett, M. C., Bridges, M. W., DiPietro, M., Ambrose, S. A., &amp; Norman, M. K. (2023). </a:t>
            </a:r>
            <a:r>
              <a:rPr i="1"/>
              <a:t>How learning works: Eight research-based principles for smart teaching</a:t>
            </a:r>
            <a:r>
              <a:rPr/>
              <a:t>. John Wiley &amp; Sons.</a:t>
            </a:r>
          </a:p>
          <a:p>
            <a:pPr lvl="0" indent="0" marL="0">
              <a:buNone/>
            </a:pPr>
            <a:r>
              <a:rPr/>
              <a:t>Mundelsee, L., &amp; Jurkowski, S. (2021). Think and pair before share: Effects of collaboration on students’ in-class participation. </a:t>
            </a:r>
            <a:r>
              <a:rPr i="1"/>
              <a:t>Learning and Individual Differences</a:t>
            </a:r>
            <a:r>
              <a:rPr/>
              <a:t>, </a:t>
            </a:r>
            <a:r>
              <a:rPr i="1"/>
              <a:t>88</a:t>
            </a:r>
            <a:r>
              <a:rPr/>
              <a:t>, 102015. </a:t>
            </a:r>
            <a:r>
              <a:rPr>
                <a:hlinkClick r:id="rId4"/>
              </a:rPr>
              <a:t>https://doi.org/10.1016/j.lindif.2021.102015</a:t>
            </a:r>
          </a:p>
          <a:p>
            <a:pPr lvl="0" indent="0" marL="0">
              <a:buNone/>
            </a:pPr>
            <a:r>
              <a:rPr/>
              <a:t>Simpson, E. (1985). </a:t>
            </a:r>
            <a:r>
              <a:rPr i="1"/>
              <a:t>Educational objectives in the psychomotor domain</a:t>
            </a:r>
            <a:r>
              <a:rPr/>
              <a:t>. Illinois University.</a:t>
            </a:r>
          </a:p>
          <a:p>
            <a:pPr lvl="0" indent="0" marL="0">
              <a:buNone/>
            </a:pPr>
            <a:r>
              <a:rPr/>
              <a:t>Sjøberg, S. (2010). Constructivism and learning. In B. McGaw &amp; P. Peterson (Eds.), </a:t>
            </a:r>
            <a:r>
              <a:rPr i="1"/>
              <a:t>International Encyclopaedia of Education</a:t>
            </a:r>
            <a:r>
              <a:rPr/>
              <a:t> (3rd ed.). Elsevier.</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p>
          <a:p>
            <a:pPr lvl="0" indent="0" marL="0">
              <a:buNone/>
            </a:pPr>
            <a:r>
              <a:rPr b="1"/>
              <a:t>Creator</a:t>
            </a:r>
            <a:r>
              <a:rPr/>
              <a:t>: Von Grebmer zu Wolfsthurn, Sarah ( </a:t>
            </a:r>
            <a:r>
              <a:rPr>
                <a:hlinkClick r:id="rId2"/>
              </a:rPr>
              <a:t>0000-0002-6413-3895</a:t>
            </a:r>
            <a:r>
              <a:rPr/>
              <a:t>)</a:t>
            </a:r>
          </a:p>
          <a:p>
            <a:pPr lvl="0" indent="0" marL="0">
              <a:buNone/>
            </a:pPr>
            <a:r>
              <a:rPr b="1"/>
              <a:t>Reviewer</a:t>
            </a:r>
            <a:r>
              <a:rPr/>
              <a:t>: Middleton, Sara (</a:t>
            </a:r>
            <a:r>
              <a:rPr>
                <a:hlinkClick r:id="rId3"/>
              </a:rPr>
              <a:t>0000-0001-5307-8029</a:t>
            </a:r>
            <a:r>
              <a:rPr/>
              <a:t>)</a:t>
            </a:r>
          </a:p>
          <a:p>
            <a:pPr lvl="0" indent="0" marL="0">
              <a:buNone/>
            </a:pPr>
            <a:r>
              <a:rPr b="1"/>
              <a:t>Reviewer</a:t>
            </a:r>
            <a:r>
              <a:rPr/>
              <a:t>: Schönbrodt, Felix ( </a:t>
            </a:r>
            <a:r>
              <a:rPr>
                <a:hlinkClick r:id="rId4"/>
              </a:rPr>
              <a:t>0000-0002-8282-3910</a:t>
            </a:r>
            <a:r>
              <a:rPr/>
              <a:t>)</a:t>
            </a:r>
          </a:p>
          <a:p>
            <a:pPr lvl="0" indent="0" marL="0">
              <a:buNone/>
            </a:pPr>
            <a:r>
              <a:rPr b="1"/>
              <a:t>Consultant</a:t>
            </a:r>
            <a:r>
              <a:rPr/>
              <a:t>: Ihle, Malika ( </a:t>
            </a:r>
            <a:r>
              <a:rPr>
                <a:hlinkClick r:id="rId5"/>
              </a:rPr>
              <a:t>0000-0002-3242-5981</a:t>
            </a:r>
            <a:r>
              <a:rPr/>
              <a:t>)</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License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current work by Sarah von Grebmer zu Wolfsthurn, Sara Lil Middleton, Malika Ihle and Felix Schönbrodt is licensed under a </a:t>
            </a:r>
            <a:r>
              <a:rPr>
                <a:hlinkClick r:id="rId3"/>
              </a:rPr>
              <a:t>Creative Commons Attribution 4.0 International SA License</a:t>
            </a:r>
            <a:r>
              <a:rPr/>
              <a:t> (CC-BY-SA 4.0).</a:t>
            </a:r>
          </a:p>
          <a:p>
            <a:pPr lvl="0" indent="0" marL="0">
              <a:buNone/>
            </a:pPr>
            <a:r>
              <a:rPr/>
              <a:t>Please cite as: Von Grebmer zu Wolfsthurn, S., Middleton, S., Ihle, M., &amp; Schönbrodt, F. (2026). </a:t>
            </a:r>
            <a:r>
              <a:rPr i="1"/>
              <a:t>Teaching open research: Core didactic principles</a:t>
            </a:r>
            <a:r>
              <a:rPr/>
              <a:t> [Quarto slides]. LMU Open Science Center. </a:t>
            </a:r>
            <a:r>
              <a:rPr>
                <a:hlinkClick r:id="rId4"/>
              </a:rPr>
              <a:t>https://lmu-osc.github.io/train-the-trainer-open-research/teaching-open-research/core-didactic-principles/</a:t>
            </a:r>
          </a:p>
        </p:txBody>
      </p:sp>
      <p:sp>
        <p:nvSpPr>
          <p:cNvPr id="11" name="Date Placeholder 10">
            <a:extLst>
              <a:ext uri="{FF2B5EF4-FFF2-40B4-BE49-F238E27FC236}">
                <a16:creationId xmlns:a16="http://schemas.microsoft.com/office/drawing/2014/main" id="{CE3B72D0-0A08-8401-1102-DC8B6D528889}"/>
              </a:ext>
            </a:extLst>
          </p:cNvPr>
          <p:cNvSpPr>
            <a:spLocks noGrp="1"/>
          </p:cNvSpPr>
          <p:nvPr>
            <p:ph idx="10" sz="half" type="dt"/>
          </p:nvPr>
        </p:nvSpPr>
        <p:spPr/>
        <p:txBody>
          <a:bodyPr/>
          <a:lstStyle/>
          <a:p>
            <a:pPr algn="ctr"/>
            <a:r>
              <a:rPr lang="en-US"/>
              <a:t>19/10/2026</a:t>
            </a:r>
            <a:endParaRPr dirty="0" lang="en-US"/>
          </a:p>
        </p:txBody>
      </p:sp>
      <p:sp>
        <p:nvSpPr>
          <p:cNvPr id="12" name="Footer Placeholder 11">
            <a:extLst>
              <a:ext uri="{FF2B5EF4-FFF2-40B4-BE49-F238E27FC236}">
                <a16:creationId xmlns:a16="http://schemas.microsoft.com/office/drawing/2014/main" id="{06FDA1F9-F2A3-54A6-D8DB-F94C2CD5C623}"/>
              </a:ext>
            </a:extLst>
          </p:cNvPr>
          <p:cNvSpPr>
            <a:spLocks noGrp="1"/>
          </p:cNvSpPr>
          <p:nvPr>
            <p:ph idx="11" sz="quarter" type="ftr"/>
          </p:nvPr>
        </p:nvSpPr>
        <p:spPr/>
        <p:txBody>
          <a:bodyPr/>
          <a:lstStyle/>
          <a:p>
            <a:r>
              <a:rPr lang="en-US"/>
              <a:t>© LMU Open Science Center</a:t>
            </a:r>
            <a:endParaRPr dirty="0" lang="en-US"/>
          </a:p>
        </p:txBody>
      </p:sp>
      <p:sp>
        <p:nvSpPr>
          <p:cNvPr id="13" name="Slide Number Placeholder 12">
            <a:extLst>
              <a:ext uri="{FF2B5EF4-FFF2-40B4-BE49-F238E27FC236}">
                <a16:creationId xmlns:a16="http://schemas.microsoft.com/office/drawing/2014/main" id="{7FE0A592-9ACE-2460-AAA6-BCEAFC660CD2}"/>
              </a:ext>
            </a:extLst>
          </p:cNvPr>
          <p:cNvSpPr>
            <a:spLocks noGrp="1"/>
          </p:cNvSpPr>
          <p:nvPr>
            <p:ph idx="12" sz="quarter" type="sldNum"/>
          </p:nvPr>
        </p:nvSpPr>
        <p:spPr/>
        <p:txBody>
          <a:bodyPr/>
          <a:lstStyle/>
          <a:p>
            <a:fld id="{C5EF2332-01BF-834F-8236-50238282D533}" type="slidenum">
              <a:rPr lang="en-US" smtClean="0"/>
              <a:pPr/>
              <a:t>‹#›</a:t>
            </a:fld>
            <a:endParaRPr dirty="0" lang="en-US"/>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67</Words>
  <Application>Microsoft Macintosh PowerPoint</Application>
  <PresentationFormat>Widescreen</PresentationFormat>
  <Paragraphs>23</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ExtraBold</vt:lpstr>
      <vt:lpstr>Arial</vt:lpstr>
      <vt:lpstr>Calibri</vt:lpstr>
      <vt:lpstr>Courier New</vt:lpstr>
      <vt:lpstr>Wingdings</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didactic principles for teaching Open Research</dc:title>
  <dc:creator>Sarah von Grebmer zu Wolfsthurn</dc:creator>
  <cp:keywords/>
  <dcterms:created xsi:type="dcterms:W3CDTF">2026-10-19T00:47:42Z</dcterms:created>
  <dcterms:modified xsi:type="dcterms:W3CDTF">2026-10-19T00:47:42Z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19/10/2026</vt:lpwstr>
  </property>
  <property fmtid="{D5CDD505-2E9C-101B-9397-08002B2CF9AE}" pid="8" name="date-format">
    <vt:lpwstr>DD/MM/YYYY</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revealjs-plugins">
    <vt:lpwstr/>
  </property>
  <property fmtid="{D5CDD505-2E9C-101B-9397-08002B2CF9AE}" pid="15" name="toc-title">
    <vt:lpwstr>Table of contents</vt:lpwstr>
  </property>
</Properties>
</file>