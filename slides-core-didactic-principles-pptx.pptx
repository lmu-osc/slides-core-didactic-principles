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training/self-learning.html"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1.xml" /><Relationship Id="rId3" Type="http://schemas.openxmlformats.org/officeDocument/2006/relationships/image" Target="../media/image1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2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21.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16/j.lindif.2021.102015"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Where to find this</a:t>
                      </a:r>
                    </a:p>
                  </a:txBody>
                  <a:tcPr/>
                </a:tc>
              </a:tr>
              <a:tr h="0">
                <a:tc>
                  <a:txBody>
                    <a:bodyPr/>
                    <a:lstStyle/>
                    <a:p>
                      <a:pPr lvl="0" indent="0" marL="0">
                        <a:buNone/>
                      </a:pPr>
                      <a:r>
                        <a:rPr/>
                        <a:t>Familiarity with Open Research concepts and practices</a:t>
                      </a:r>
                    </a:p>
                  </a:txBody>
                </a:tc>
                <a:tc>
                  <a:txBody>
                    <a:bodyPr/>
                    <a:lstStyle/>
                    <a:p>
                      <a:pPr lvl="0" indent="0" marL="0">
                        <a:buNone/>
                      </a:pPr>
                      <a:r>
                        <a:rPr/>
                        <a:t>Examples: Replication crisis, open access, R, version control, preregistration, etc.</a:t>
                      </a:r>
                    </a:p>
                  </a:txBody>
                </a:tc>
                <a:tc>
                  <a:txBody>
                    <a:bodyPr/>
                    <a:lstStyle/>
                    <a:p>
                      <a:pPr lvl="0" indent="0" marL="0">
                        <a:buNone/>
                      </a:pPr>
                      <a:r>
                        <a:rPr>
                          <a:hlinkClick r:id="rId2"/>
                        </a:rPr>
                        <a:t>Click here to get familiar with Open Research first</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12/10/2026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teaching experience do you have?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Workshops, peer training, (guest) lectures, seminars, lab presentations etc. on </a:t>
            </a:r>
            <a:r>
              <a:rPr b="1"/>
              <a:t>open research</a:t>
            </a:r>
            <a:r>
              <a:rPr/>
              <a:t> topics</a:t>
            </a:r>
          </a:p>
        </p:txBody>
      </p:sp>
      <p:pic>
        <p:nvPicPr>
          <p:cNvPr descr="images/experience-spectrum.png" id="0" name="Picture 1"/>
          <p:cNvPicPr>
            <a:picLocks noGrp="1" noChangeAspect="1"/>
          </p:cNvPicPr>
          <p:nvPr/>
        </p:nvPicPr>
        <p:blipFill>
          <a:blip r:embed="rId3"/>
          <a:stretch>
            <a:fillRect/>
          </a:stretch>
        </p:blipFill>
        <p:spPr bwMode="auto">
          <a:xfrm>
            <a:off x="6197600" y="3302000"/>
            <a:ext cx="5384800" cy="1104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have you already thought about didactics?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If and when you teach about open research, do you or would you consider </a:t>
            </a:r>
            <a:r>
              <a:rPr b="1"/>
              <a:t>didactic elements</a:t>
            </a:r>
            <a:r>
              <a:rPr/>
              <a:t> in you design and/or teaching style..?</a:t>
            </a:r>
          </a:p>
        </p:txBody>
      </p:sp>
      <p:pic>
        <p:nvPicPr>
          <p:cNvPr descr="images/didactics-thoughts-spectrum.png" id="0" name="Picture 1"/>
          <p:cNvPicPr>
            <a:picLocks noGrp="1" noChangeAspect="1"/>
          </p:cNvPicPr>
          <p:nvPr/>
        </p:nvPicPr>
        <p:blipFill>
          <a:blip r:embed="rId3"/>
          <a:stretch>
            <a:fillRect/>
          </a:stretch>
        </p:blipFill>
        <p:spPr bwMode="auto">
          <a:xfrm>
            <a:off x="6197600" y="3289300"/>
            <a:ext cx="5384800" cy="1143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big are your teaching/training audiences?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i.e., what is the average group size you teach in open research? (&lt; 5 people = very small, &gt; 100 people = very large)</a:t>
            </a:r>
          </a:p>
        </p:txBody>
      </p:sp>
      <p:pic>
        <p:nvPicPr>
          <p:cNvPr descr="images/audience.png" id="0" name="Picture 1"/>
          <p:cNvPicPr>
            <a:picLocks noGrp="1" noChangeAspect="1"/>
          </p:cNvPicPr>
          <p:nvPr/>
        </p:nvPicPr>
        <p:blipFill>
          <a:blip r:embed="rId3"/>
          <a:stretch>
            <a:fillRect/>
          </a:stretch>
        </p:blipFill>
        <p:spPr bwMode="auto">
          <a:xfrm>
            <a:off x="6197600" y="3505200"/>
            <a:ext cx="5384800" cy="71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3"/>
          <a:stretch>
            <a:fillRect/>
          </a:stretch>
        </p:blipFill>
        <p:spPr bwMode="auto">
          <a:xfrm>
            <a:off x="1739900" y="1600200"/>
            <a:ext cx="3124200" cy="4521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didactics?</a:t>
            </a:r>
          </a:p>
        </p:txBody>
      </p:sp>
      <p:sp>
        <p:nvSpPr>
          <p:cNvPr id="3" name="Text Placeholder 2"/>
          <p:cNvSpPr>
            <a:spLocks noGrp="1"/>
          </p:cNvSpPr>
          <p:nvPr>
            <p:ph idx="1"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609600" y="2171700"/>
          <a:ext cx="5384800" cy="3949700"/>
        </p:xfrm>
        <a:graphic>
          <a:graphicData uri="http://schemas.openxmlformats.org/drawingml/2006/table">
            <a:tbl>
              <a:tblPr firstRow="1" bandRow="1">
                <a:tableStyleId>{5C22544A-7EE6-4342-B048-85BDC9FD1C3A}</a:tableStyleId>
              </a:tblPr>
              <a:tblGrid>
                <a:gridCol w="1346200"/>
                <a:gridCol w="1536700"/>
                <a:gridCol w="25019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pic>
        <p:nvPicPr>
          <p:cNvPr descr="images/greek.png" id="0" name="Picture 1"/>
          <p:cNvPicPr>
            <a:picLocks noGrp="1" noChangeAspect="1"/>
          </p:cNvPicPr>
          <p:nvPr/>
        </p:nvPicPr>
        <p:blipFill>
          <a:blip r:embed="rId3"/>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12/10/2026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sz="half"/>
          </p:nvPr>
        </p:nvSpPr>
        <p:spPr/>
        <p:txBody>
          <a:bodyPr/>
          <a:lstStyle/>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12/10/2026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3"/>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3"/>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A mental model of acquiring Open Access skills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397000"/>
                <a:gridCol w="3200400"/>
                <a:gridCol w="2197100"/>
              </a:tblGrid>
              <a:tr h="0">
                <a:tc>
                  <a:txBody>
                    <a:bodyPr/>
                    <a:lstStyle/>
                    <a:p>
                      <a:pPr lvl="0" indent="0" marL="0">
                        <a:buNone/>
                      </a:pPr>
                      <a:r>
                        <a:rPr/>
                        <a:t>Level</a:t>
                      </a:r>
                    </a:p>
                  </a:txBody>
                  <a:tcPr/>
                </a:tc>
                <a:tc>
                  <a:txBody>
                    <a:bodyPr/>
                    <a:lstStyle/>
                    <a:p>
                      <a:pPr lvl="0" indent="0" marL="0">
                        <a:buNone/>
                      </a:pPr>
                      <a:r>
                        <a:rPr/>
                        <a:t>Can do ✅</a:t>
                      </a:r>
                    </a:p>
                  </a:txBody>
                  <a:tcPr/>
                </a:tc>
                <a:tc>
                  <a:txBody>
                    <a:bodyPr/>
                    <a:lstStyle/>
                    <a:p>
                      <a:pPr lvl="0" indent="0" marL="0">
                        <a:buNone/>
                      </a:pPr>
                      <a:r>
                        <a:rPr/>
                        <a:t>Cannot (yet) do ❌</a:t>
                      </a:r>
                    </a:p>
                  </a:txBody>
                  <a:tcPr/>
                </a:tc>
              </a:tr>
              <a:tr h="0">
                <a:tc>
                  <a:txBody>
                    <a:bodyPr/>
                    <a:lstStyle/>
                    <a:p>
                      <a:pPr lvl="0" indent="0" marL="0">
                        <a:buNone/>
                      </a:pPr>
                      <a:r>
                        <a:rPr b="1"/>
                        <a:t>Novice learners</a:t>
                      </a:r>
                    </a:p>
                  </a:txBody>
                </a:tc>
                <a:tc>
                  <a:txBody>
                    <a:bodyPr/>
                    <a:lstStyle/>
                    <a:p>
                      <a:pPr lvl="0" indent="0" marL="0">
                        <a:buNone/>
                      </a:pPr>
                      <a:r>
                        <a:rPr/>
                        <a:t>Recognize that Open Access and publishing licenses exist</a:t>
                      </a:r>
                    </a:p>
                  </a:txBody>
                </a:tc>
                <a:tc>
                  <a:txBody>
                    <a:bodyPr/>
                    <a:lstStyle/>
                    <a:p>
                      <a:pPr lvl="0" indent="0" marL="0">
                        <a:buNone/>
                      </a:pPr>
                      <a:r>
                        <a:rPr/>
                        <a:t>Identify different publishing licenses or explain their effects on authors and readers</a:t>
                      </a:r>
                    </a:p>
                  </a:txBody>
                </a:tc>
              </a:tr>
              <a:tr h="0">
                <a:tc>
                  <a:txBody>
                    <a:bodyPr/>
                    <a:lstStyle/>
                    <a:p>
                      <a:pPr lvl="0" indent="0" marL="0">
                        <a:buNone/>
                      </a:pPr>
                      <a:r>
                        <a:rPr b="1"/>
                        <a:t>Competent practitioners</a:t>
                      </a:r>
                    </a:p>
                  </a:txBody>
                </a:tc>
                <a:tc>
                  <a:txBody>
                    <a:bodyPr/>
                    <a:lstStyle/>
                    <a:p>
                      <a:pPr lvl="0" indent="0" marL="0">
                        <a:buNone/>
                      </a:pPr>
                      <a:r>
                        <a:rPr/>
                        <a:t>Knows which “default licenses” are a good choice for most typical cases</a:t>
                      </a:r>
                    </a:p>
                  </a:txBody>
                </a:tc>
                <a:tc>
                  <a:txBody>
                    <a:bodyPr/>
                    <a:lstStyle/>
                    <a:p>
                      <a:pPr lvl="0" indent="0" marL="0">
                        <a:buNone/>
                      </a:pPr>
                      <a:r>
                        <a:rPr/>
                        <a:t>Explain specific details of licences or handle “untypical” licensing cases</a:t>
                      </a:r>
                    </a:p>
                  </a:txBody>
                </a:tc>
              </a:tr>
              <a:tr h="0">
                <a:tc>
                  <a:txBody>
                    <a:bodyPr/>
                    <a:lstStyle/>
                    <a:p>
                      <a:pPr lvl="0" indent="0" marL="0">
                        <a:buNone/>
                      </a:pPr>
                      <a:r>
                        <a:rPr b="1"/>
                        <a:t>Experts</a:t>
                      </a:r>
                    </a:p>
                  </a:txBody>
                </a:tc>
                <a:tc>
                  <a:txBody>
                    <a:bodyPr/>
                    <a:lstStyle/>
                    <a:p>
                      <a:pPr lvl="0" indent="0" marL="0">
                        <a:buNone/>
                      </a:pPr>
                      <a:r>
                        <a:rPr/>
                        <a:t>Strategically select and apply Open Access routes (Gold, Green, Diamond); choose Creative Commons licenses based on reuse goals; support and train others</a:t>
                      </a:r>
                    </a:p>
                  </a:txBody>
                </a:tc>
                <a:tc>
                  <a:txBody>
                    <a:bodyPr/>
                    <a:lstStyle/>
                    <a:p>
                      <a:pPr lvl="0" indent="0" marL="0">
                        <a:buNone/>
                      </a:pPr>
                      <a:r>
                        <a:rPr/>
                        <a:t>—</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Enhancing the organization of knowledge as an instructor</a:t>
            </a:r>
          </a:p>
          <a:p>
            <a:pPr lvl="0" indent="0" marL="0">
              <a:buNone/>
            </a:pPr>
            <a:r>
              <a:rPr/>
              <a:t>Some strategies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3"/>
          <a:stretch>
            <a:fillRect/>
          </a:stretch>
        </p:blipFill>
        <p:spPr bwMode="auto">
          <a:xfrm>
            <a:off x="6197600" y="2603500"/>
            <a:ext cx="5384800" cy="2501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3"/>
          <a:stretch>
            <a:fillRect/>
          </a:stretch>
        </p:blipFill>
        <p:spPr bwMode="auto">
          <a:xfrm>
            <a:off x="6197600" y="2590800"/>
            <a:ext cx="5384800" cy="2540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4699000"/>
                <a:gridCol w="6273800"/>
              </a:tblGrid>
              <a:tr h="0">
                <a:tc>
                  <a:txBody>
                    <a:bodyPr/>
                    <a:lstStyle/>
                    <a:p>
                      <a:pPr lvl="0" indent="0" marL="0">
                        <a:buNone/>
                      </a:pPr>
                      <a:r>
                        <a:rPr/>
                        <a:t>Learning objective</a:t>
                      </a:r>
                    </a:p>
                  </a:txBody>
                  <a:tcPr/>
                </a:tc>
                <a:tc>
                  <a:txBody>
                    <a:bodyPr/>
                    <a:lstStyle/>
                    <a:p>
                      <a:pPr lvl="0" indent="0" marL="0">
                        <a:buNone/>
                      </a:pPr>
                      <a:r>
                        <a:rPr/>
                        <a:t>Assessment task</a:t>
                      </a:r>
                    </a:p>
                  </a:txBody>
                  <a:tcPr/>
                </a:tc>
              </a:tr>
              <a:tr h="0">
                <a:tc>
                  <a:txBody>
                    <a:bodyPr/>
                    <a:lstStyle/>
                    <a:p>
                      <a:pPr lvl="0" indent="0" marL="0">
                        <a:buNone/>
                      </a:pPr>
                      <a:r>
                        <a:rPr/>
                        <a:t>A: </a:t>
                      </a:r>
                      <a:r>
                        <a:rPr i="1"/>
                        <a:t>Create</a:t>
                      </a:r>
                      <a:r>
                        <a:rPr/>
                        <a:t> a reproducible research pipeline</a:t>
                      </a:r>
                    </a:p>
                  </a:txBody>
                </a:tc>
                <a:tc>
                  <a:txBody>
                    <a:bodyPr/>
                    <a:lstStyle/>
                    <a:p>
                      <a:pPr lvl="0" indent="0" marL="0">
                        <a:buNone/>
                      </a:pPr>
                      <a:r>
                        <a:rPr/>
                        <a:t>1: Hand in a brief essay on Green open access along with two ethical benefits and two challenges</a:t>
                      </a:r>
                    </a:p>
                  </a:txBody>
                </a:tc>
              </a:tr>
              <a:tr h="0">
                <a:tc>
                  <a:txBody>
                    <a:bodyPr/>
                    <a:lstStyle/>
                    <a:p>
                      <a:pPr lvl="0" indent="0" marL="0">
                        <a:buNone/>
                      </a:pPr>
                      <a:r>
                        <a:rPr/>
                        <a:t>B: </a:t>
                      </a:r>
                      <a:r>
                        <a:rPr i="1"/>
                        <a:t>Apply</a:t>
                      </a:r>
                      <a:r>
                        <a:rPr/>
                        <a:t> FAIR data principles to a dataset</a:t>
                      </a:r>
                    </a:p>
                  </a:txBody>
                </a:tc>
                <a:tc>
                  <a:txBody>
                    <a:bodyPr/>
                    <a:lstStyle/>
                    <a:p>
                      <a:pPr lvl="0" indent="0" marL="0">
                        <a:buNone/>
                      </a:pPr>
                      <a:r>
                        <a:rPr/>
                        <a:t>2: Generate a GitHub project and add project documentation (README)</a:t>
                      </a:r>
                    </a:p>
                  </a:txBody>
                </a:tc>
              </a:tr>
              <a:tr h="0">
                <a:tc>
                  <a:txBody>
                    <a:bodyPr/>
                    <a:lstStyle/>
                    <a:p>
                      <a:pPr lvl="0" indent="0" marL="0">
                        <a:buNone/>
                      </a:pPr>
                      <a:r>
                        <a:rPr/>
                        <a:t>C: </a:t>
                      </a:r>
                      <a:r>
                        <a:rPr i="1"/>
                        <a:t>Analyze</a:t>
                      </a:r>
                      <a:r>
                        <a:rPr/>
                        <a:t> reproducibility issues in published studies</a:t>
                      </a:r>
                    </a:p>
                  </a:txBody>
                </a:tc>
                <a:tc>
                  <a:txBody>
                    <a:bodyPr/>
                    <a:lstStyle/>
                    <a:p>
                      <a:pPr lvl="0" indent="0" marL="0">
                        <a:buNone/>
                      </a:pPr>
                      <a:r>
                        <a:rPr/>
                        <a:t>3: Create a metadata record that is machine-readable</a:t>
                      </a:r>
                    </a:p>
                  </a:txBody>
                </a:tc>
              </a:tr>
              <a:tr h="0">
                <a:tc>
                  <a:txBody>
                    <a:bodyPr/>
                    <a:lstStyle/>
                    <a:p>
                      <a:pPr lvl="0" indent="0" marL="0">
                        <a:buNone/>
                      </a:pPr>
                      <a:r>
                        <a:rPr/>
                        <a:t>D: </a:t>
                      </a:r>
                      <a:r>
                        <a:rPr i="1"/>
                        <a:t>Understand</a:t>
                      </a:r>
                      <a:r>
                        <a:rPr/>
                        <a:t> ethical implications of open access</a:t>
                      </a:r>
                    </a:p>
                  </a:txBody>
                </a:tc>
                <a:tc>
                  <a:txBody>
                    <a:bodyPr/>
                    <a:lstStyle/>
                    <a:p>
                      <a:pPr lvl="0" indent="0" marL="0">
                        <a:buNone/>
                      </a:pPr>
                      <a:r>
                        <a:rPr/>
                        <a:t>4: Write a critical review of the methods section of an open access paper</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3"/>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3"/>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3"/>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12/10/2026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4"/>
              </a:rPr>
              <a:t>https://doi.org/10.1016/j.lindif.2021.102015</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12/10/2026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2026-10-12T02:03:32Z</dcterms:created>
  <dcterms:modified xsi:type="dcterms:W3CDTF">2026-10-12T02:03:32Z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